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4d5279d2-1b45-e6c6-e999-86e10b923ca9}">
          <p14:sldIdLst>
            <p14:sldId id="256"/>
            <p14:sldId id="257"/>
            <p14:sldId id="258"/>
            <p14:sldId id="259"/>
          </p14:sldIdLst>
        </p14:section>
        <p14:section name="Konsep dan Praktik Dasar" id="{d345b78f-b0e5-a7e8-7198-6931719cf7c6}">
          <p14:sldIdLst>
            <p14:sldId id="260"/>
            <p14:sldId id="261"/>
            <p14:sldId id="262"/>
            <p14:sldId id="263"/>
            <p14:sldId id="264"/>
          </p14:sldIdLst>
        </p14:section>
        <p14:section name="Dashboard" id="{23d46bde-6951-8c5e-cfc2-d0c18b40b939}">
          <p14:sldIdLst>
            <p14:sldId id="265"/>
            <p14:sldId id="266"/>
            <p14:sldId id="267"/>
          </p14:sldIdLst>
        </p14:section>
        <p14:section name="Penutup" id="{94cdf6fe-98bc-97c6-ce02-375a2ed9ea3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61F"/>
                </a:solidFill>
                <a:latin typeface="+mn-lt"/>
              </a:defRPr>
            </a:pPr>
            <a:r>
              <a:rPr sz="1200" b="0" i="0" u="none" strike="noStrike">
                <a:solidFill>
                  <a:srgbClr val="14161F"/>
                </a:solidFill>
                <a:latin typeface="+mn-lt"/>
              </a:rPr>
              <a:t>Sumbu mulai dari 0</a:t>
            </a:r>
          </a:p>
        </c:rich>
      </c:tx>
      <c:layout/>
      <c:overlay val="0"/>
    </c:title>
    <c:autoTitleDeleted val="0"/>
    <c:plotArea>
      <c:layout/>
      <c:barChart>
        <c:barDir val="col"/>
        <c:grouping val="clustered"/>
        <c:varyColors val="0"/>
        <c:ser>
          <c:idx val="0"/>
          <c:order val="0"/>
          <c:tx>
            <c:strRef>
              <c:f>Sheet1!$B$1</c:f>
              <c:strCache>
                <c:ptCount val="1"/>
                <c:pt idx="0">
                  <c:v>Rata-rata UTS</c:v>
                </c:pt>
              </c:strCache>
            </c:strRef>
          </c:tx>
          <c:spPr>
            <a:solidFill>
              <a:srgbClr val="0B7F7A"/>
            </a:solidFill>
            <a:effectLst/>
          </c:spPr>
          <c:invertIfNegative val="0"/>
          <c:dLbls>
            <c:numFmt formatCode="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C</c:v>
                  </c:pt>
                </c:lvl>
              </c:multiLvlStrCache>
            </c:multiLvlStrRef>
          </c:cat>
          <c:val>
            <c:numRef>
              <c:f>Sheet1!$B$2:$B$4</c:f>
              <c:numCache>
                <c:formatCode>General</c:formatCode>
                <c:ptCount val="3"/>
                <c:pt idx="0">
                  <c:v>71.2</c:v>
                </c:pt>
                <c:pt idx="1">
                  <c:v>66.1</c:v>
                </c:pt>
                <c:pt idx="2">
                  <c:v>68.2</c:v>
                </c:pt>
              </c:numCache>
            </c:numRef>
          </c:val>
        </c:ser>
        <c:dLbls>
          <c:numFmt formatCode="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61F"/>
                </a:solidFill>
                <a:latin typeface="+mn-lt"/>
              </a:defRPr>
            </a:pPr>
            <a:r>
              <a:rPr sz="1200" b="0" i="0" u="none" strike="noStrike">
                <a:solidFill>
                  <a:srgbClr val="14161F"/>
                </a:solidFill>
                <a:latin typeface="+mn-lt"/>
              </a:rPr>
              <a:t>Sumbu dipotong</a:t>
            </a:r>
          </a:p>
        </c:rich>
      </c:tx>
      <c:layout/>
      <c:overlay val="0"/>
    </c:title>
    <c:autoTitleDeleted val="0"/>
    <c:plotArea>
      <c:layout/>
      <c:barChart>
        <c:barDir val="col"/>
        <c:grouping val="clustered"/>
        <c:varyColors val="0"/>
        <c:ser>
          <c:idx val="0"/>
          <c:order val="0"/>
          <c:tx>
            <c:strRef>
              <c:f>Sheet1!$B$1</c:f>
              <c:strCache>
                <c:ptCount val="1"/>
                <c:pt idx="0">
                  <c:v>Rata-rata UTS</c:v>
                </c:pt>
              </c:strCache>
            </c:strRef>
          </c:tx>
          <c:spPr>
            <a:solidFill>
              <a:srgbClr val="E5393B"/>
            </a:solidFill>
            <a:effectLst/>
          </c:spPr>
          <c:invertIfNegative val="0"/>
          <c:dLbls>
            <c:numFmt formatCode="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C</c:v>
                  </c:pt>
                </c:lvl>
              </c:multiLvlStrCache>
            </c:multiLvlStrRef>
          </c:cat>
          <c:val>
            <c:numRef>
              <c:f>Sheet1!$B$2:$B$4</c:f>
              <c:numCache>
                <c:formatCode>General</c:formatCode>
                <c:ptCount val="3"/>
                <c:pt idx="0">
                  <c:v>71.2</c:v>
                </c:pt>
                <c:pt idx="1">
                  <c:v>66.1</c:v>
                </c:pt>
                <c:pt idx="2">
                  <c:v>68.2</c:v>
                </c:pt>
              </c:numCache>
            </c:numRef>
          </c:val>
        </c:ser>
        <c:dLbls>
          <c:numFmt formatCode="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72"/>
          <c:min val="64"/>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61F"/>
                </a:solidFill>
                <a:latin typeface="+mn-lt"/>
              </a:defRPr>
            </a:pPr>
            <a:r>
              <a:rPr sz="1200" b="0" i="0" u="none" strike="noStrike">
                <a:solidFill>
                  <a:srgbClr val="14161F"/>
                </a:solidFill>
                <a:latin typeface="+mn-lt"/>
              </a:rPr>
              <a:t>Penyimpangan terbesar dari 1/6 (per jumlah lemparan)</a:t>
            </a:r>
          </a:p>
        </c:rich>
      </c:tx>
      <c:layout/>
      <c:overlay val="0"/>
    </c:title>
    <c:autoTitleDeleted val="0"/>
    <c:plotArea>
      <c:layout/>
      <c:barChart>
        <c:barDir val="col"/>
        <c:grouping val="clustered"/>
        <c:varyColors val="0"/>
        <c:ser>
          <c:idx val="0"/>
          <c:order val="0"/>
          <c:tx>
            <c:strRef>
              <c:f>Sheet1!$B$1</c:f>
              <c:strCache>
                <c:ptCount val="1"/>
                <c:pt idx="0">
                  <c:v>Penyimpangan terbesar</c:v>
                </c:pt>
              </c:strCache>
            </c:strRef>
          </c:tx>
          <c:spPr>
            <a:solidFill>
              <a:srgbClr val="0B7F7A"/>
            </a:solidFill>
            <a:effectLst/>
          </c:spPr>
          <c:invertIfNegative val="0"/>
          <c:dLbls>
            <c:numFmt formatCode="0.00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cat>
            <c:multiLvlStrRef>
              <c:f>Sheet1!$A$2:$A$6</c:f>
              <c:multiLvlStrCache>
                <c:ptCount val="5"/>
                <c:lvl>
                  <c:pt idx="0">
                    <c:v>10</c:v>
                  </c:pt>
                  <c:pt idx="1">
                    <c:v>100</c:v>
                  </c:pt>
                  <c:pt idx="2">
                    <c:v>1.000</c:v>
                  </c:pt>
                  <c:pt idx="3">
                    <c:v>10.000</c:v>
                  </c:pt>
                  <c:pt idx="4">
                    <c:v>100.000</c:v>
                  </c:pt>
                </c:lvl>
              </c:multiLvlStrCache>
            </c:multiLvlStrRef>
          </c:cat>
          <c:val>
            <c:numRef>
              <c:f>Sheet1!$B$2:$B$6</c:f>
              <c:numCache>
                <c:formatCode>General</c:formatCode>
                <c:ptCount val="5"/>
                <c:pt idx="0">
                  <c:v>0.2333</c:v>
                </c:pt>
                <c:pt idx="1">
                  <c:v>0.0833</c:v>
                </c:pt>
                <c:pt idx="2">
                  <c:v>0.0143</c:v>
                </c:pt>
                <c:pt idx="3">
                  <c:v>0.0066</c:v>
                </c:pt>
                <c:pt idx="4">
                  <c:v>0.0007</c:v>
                </c:pt>
              </c:numCache>
            </c:numRef>
          </c:val>
        </c:ser>
        <c:dLbls>
          <c:numFmt formatCode="0.0000" sourceLinked="0"/>
          <c:txPr>
            <a:bodyPr/>
            <a:lstStyle/>
            <a:p>
              <a:pPr>
                <a:defRPr b="0" i="0" strike="noStrike" sz="1000" u="none">
                  <a:solidFill>
                    <a:srgbClr val="1416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Tunjukkan dashboard di sisi kanan sebagai gambaran hasil akhir: di akhir sesi mahasiswa akan membangun dashboard seperti ini sendiri. Estimasi 90 menit, mayoritas praktik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kata kunci: memahami (konsep rerun), membangun (dashboard), menafsirkan (statistik). Tekankan bahwa dashboard yang dibangun bisa dipakai untuk data CSV 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inti adalah live coding dashboard (30 menit). Bagian setup 15 menit penting karena instalasi sering jadi kendala; sarankan mahasiswa menginstal sebelum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bahwa semua fondasi sudah ada. Hari ini tidak ada konsep statistik baru; yang baru adalah cara menyajikannya secara interaktif.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 paling penting hari ini. Demo nanti di file 03_widget_layout.py: dua tombol, satu memakai variabel biasa (selalu kembali ke 0/1) dan satu memakai session_state (terus bertambah). Biarkan mahasiswa menebak dulu sebelum didemokan.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streamlit tidak dikenali, gunakan: python -m streamlit run app.py. Pastikan mahasiswa menjalankan perintah dari folder yang sama dengan file app.py dan folder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 bersifat pasif (menampilkan), widget bersifat aktif (menerima input). Widget mengembalikan nilai Python biasa, jadi semua yang sudah dipelajari (if, loop, function, Pandas) bisa langsung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layout inilah kerangka dashboard yang akan dibangun: sidebar untuk filter, kolom untuk deretan metrik, tab untuk memisahkan Data, Statistik, Visualisasi, dan Simulasi Dadu.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tidak ada statistik baru. Setiap perhitungan yang sudah dipelajari di Pertemuan 2 punya padanan komponen Streamlit. Minta mahasiswa menyebutkan sendiri padanannya sebelum slide ini dibuka.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hasil akhir. Sidebar berisi upload CSV, pilihan kolom, dan filter kategori. Empat tab memisahkan topik. Dashboard ini bekerja untuk CSV apa pun yang punya kolom numerik; coba nanti dengan data_penjualan_kafe.csv.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Rangkum prinsip dashboard dari Pertemuan 3. Fokuskan pada poin terakhir: kedua grafik memakai data yang persis sama (rata-rata UTS kelas A, B, C dari dataset). Grafik kanan membuat selisih 5 poin tampak sangat besar karena sumbu dipotong. Tanyakan ke mahasiswa grafik mana yang menyesatkan.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Jembatan menuju probabilitas (Pertemuan 5). Angka pada grafik berasal dari satu kali simulasi dengan jumlah lemparan 10, 100, 1.000, 10.000, dan 100.000. Hasil di kelas akan sedikit berbeda karena acak, dan itu justru poin yang bagus untuk didiskusikan.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1 melatih widget dan validasi input. Kuis 2 melatih penggabungan Pandas, deteksi outlier, dan layout, serta memuat pertanyaan konseptual: mengapa outlier harus dideteksi per menu dan bukan pada data gabungan.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persiapan teknis sebelum kelas, terutama instalasi Streamlit. Pertemuan 5 mulai masuk ke sisi probabilitas dari nama mata kuliah; simulasi dadu di dashboard adalah pembukanya.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937760" cy="192024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548640" y="3474720"/>
            <a:ext cx="4754880" cy="822960"/>
          </a:xfrm>
          <a:prstGeom prst="rect">
            <a:avLst/>
          </a:prstGeom>
          <a:noFill/>
          <a:ln/>
        </p:spPr>
        <p:txBody>
          <a:bodyPr wrap="square" rtlCol="0"/>
          <a:lstStyle>
            <a:lvl1pPr indent="0" marL="0">
              <a:buNone/>
              <a:defRPr lang="en-US" sz="1600" dirty="0">
                <a:solidFill>
                  <a:srgbClr val="C9CED8"/>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5B6475"/>
                </a:solidFill>
              </a:rPr>
              <a:t>StatPro 1  |  Pertemuan 4</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4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5" Type="http://schemas.openxmlformats.org/officeDocument/2006/relationships/chart" Target="/ppt/charts/chart1.xml"/><Relationship Id="rId6" Type="http://schemas.openxmlformats.org/officeDocument/2006/relationships/chart" Target="/ppt/charts/chart2.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5120640" cy="274320"/>
          </a:xfrm>
          <a:prstGeom prst="rect">
            <a:avLst/>
          </a:prstGeom>
          <a:noFill/>
          <a:ln/>
        </p:spPr>
        <p:txBody>
          <a:bodyPr wrap="square" lIns="0" tIns="0" rIns="0" bIns="0" rtlCol="0" anchor="t"/>
          <a:lstStyle/>
          <a:p>
            <a:pPr indent="0" marL="0">
              <a:buNone/>
            </a:pPr>
            <a:r>
              <a:rPr lang="en-US" sz="1200" b="1" spc="200" kern="0" dirty="0">
                <a:solidFill>
                  <a:srgbClr val="FF6B6B"/>
                </a:solidFill>
              </a:rPr>
              <a:t>STATISTIK DAN PROBABILITAS 1  |  PERTEMUAN 4</a:t>
            </a:r>
            <a:endParaRPr lang="en-US" sz="1200" dirty="0"/>
          </a:p>
        </p:txBody>
      </p:sp>
      <p:sp>
        <p:nvSpPr>
          <p:cNvPr id="3" name="Text 0"/>
          <p:cNvSpPr/>
          <p:nvPr>
            <p:ph idx="100" type="title" hasCustomPrompt="1"/>
          </p:nvPr>
        </p:nvSpPr>
        <p:spPr>
          <a:xfrm>
            <a:off x="548640" y="1325880"/>
            <a:ext cx="4937760" cy="1920240"/>
          </a:xfrm>
          <a:prstGeom prst="rect">
            <a:avLst/>
          </a:prstGeom>
          <a:noFill/>
          <a:ln/>
        </p:spPr>
        <p:txBody>
          <a:bodyPr wrap="square" lIns="0" tIns="0" rIns="0" bIns="0" rtlCol="0" anchor="t"/>
          <a:lstStyle/>
          <a:p>
            <a:pPr algn="l" indent="0" marL="0">
              <a:buNone/>
            </a:pPr>
            <a:r>
              <a:rPr lang="en-US" sz="3800" b="1" dirty="0">
                <a:solidFill>
                  <a:srgbClr val="FFFFFF"/>
                </a:solidFill>
              </a:rPr>
              <a:t>Dashboard Statistik Deskriptif dengan Streamlit</a:t>
            </a:r>
            <a:endParaRPr lang="en-US" sz="3800" dirty="0"/>
          </a:p>
        </p:txBody>
      </p:sp>
      <p:sp>
        <p:nvSpPr>
          <p:cNvPr id="4" name="Text 0"/>
          <p:cNvSpPr/>
          <p:nvPr>
            <p:ph idx="101" type="body" hasCustomPrompt="1"/>
          </p:nvPr>
        </p:nvSpPr>
        <p:spPr>
          <a:xfrm>
            <a:off x="548640" y="3474720"/>
            <a:ext cx="4754880" cy="822960"/>
          </a:xfrm>
          <a:prstGeom prst="rect">
            <a:avLst/>
          </a:prstGeom>
          <a:noFill/>
          <a:ln/>
        </p:spPr>
        <p:txBody>
          <a:bodyPr wrap="square" lIns="0" tIns="0" rIns="0" bIns="0" rtlCol="0" anchor="t"/>
          <a:lstStyle/>
          <a:p>
            <a:pPr indent="0" marL="0">
              <a:buNone/>
            </a:pPr>
            <a:r>
              <a:rPr lang="en-US" sz="1600" dirty="0">
                <a:solidFill>
                  <a:srgbClr val="C9CED8"/>
                </a:solidFill>
              </a:rPr>
              <a:t>Estimasi waktu: 90 menit</a:t>
            </a:r>
            <a:endParaRPr lang="en-US" sz="1600" dirty="0"/>
          </a:p>
          <a:p>
            <a:pPr indent="0" marL="0">
              <a:buNone/>
            </a:pPr>
            <a:r>
              <a:rPr lang="en-US" sz="1600" dirty="0">
                <a:solidFill>
                  <a:srgbClr val="C9CED8"/>
                </a:solidFill>
              </a:rPr>
              <a:t>Farhan dan Samuel</a:t>
            </a:r>
            <a:endParaRPr lang="en-US" sz="1600" dirty="0"/>
          </a:p>
        </p:txBody>
      </p:sp>
      <p:sp>
        <p:nvSpPr>
          <p:cNvPr id="5" name="mock-frame"/>
          <p:cNvSpPr/>
          <p:nvPr/>
        </p:nvSpPr>
        <p:spPr>
          <a:xfrm>
            <a:off x="5760720" y="731520"/>
            <a:ext cx="2926080" cy="3657600"/>
          </a:xfrm>
          <a:prstGeom prst="roundRect">
            <a:avLst>
              <a:gd name="adj" fmla="val 4688"/>
            </a:avLst>
          </a:prstGeom>
          <a:solidFill>
            <a:srgbClr val="1F2433"/>
          </a:solidFill>
          <a:ln w="12700">
            <a:solidFill>
              <a:srgbClr val="39405A"/>
            </a:solidFill>
            <a:prstDash val="solid"/>
          </a:ln>
        </p:spPr>
      </p:sp>
      <p:sp>
        <p:nvSpPr>
          <p:cNvPr id="6" name="mock-sidebar"/>
          <p:cNvSpPr/>
          <p:nvPr/>
        </p:nvSpPr>
        <p:spPr>
          <a:xfrm>
            <a:off x="5852160" y="822960"/>
            <a:ext cx="643738" cy="3474720"/>
          </a:xfrm>
          <a:prstGeom prst="roundRect">
            <a:avLst>
              <a:gd name="adj" fmla="val 11364"/>
            </a:avLst>
          </a:prstGeom>
          <a:solidFill>
            <a:srgbClr val="2A3042"/>
          </a:solidFill>
          <a:ln w="12700">
            <a:solidFill>
              <a:srgbClr val="2A3042"/>
            </a:solidFill>
            <a:prstDash val="solid"/>
          </a:ln>
        </p:spPr>
      </p:sp>
      <p:sp>
        <p:nvSpPr>
          <p:cNvPr id="7" name="Text 5"/>
          <p:cNvSpPr txBox="1"/>
          <p:nvPr/>
        </p:nvSpPr>
        <p:spPr>
          <a:xfrm>
            <a:off x="5925312" y="914400"/>
            <a:ext cx="497434" cy="182880"/>
          </a:xfrm>
          <a:prstGeom prst="rect">
            <a:avLst/>
          </a:prstGeom>
          <a:noFill/>
          <a:ln/>
        </p:spPr>
        <p:txBody>
          <a:bodyPr wrap="square" lIns="0" tIns="0" rIns="0" bIns="0" rtlCol="0" anchor="t"/>
          <a:lstStyle/>
          <a:p>
            <a:pPr indent="0" marL="0">
              <a:buNone/>
            </a:pPr>
            <a:r>
              <a:rPr lang="en-US" sz="1000" dirty="0">
                <a:solidFill>
                  <a:srgbClr val="9AA3B5"/>
                </a:solidFill>
              </a:rPr>
              <a:t>Kolom</a:t>
            </a:r>
            <a:endParaRPr lang="en-US" sz="1000" dirty="0"/>
          </a:p>
        </p:txBody>
      </p:sp>
      <p:sp>
        <p:nvSpPr>
          <p:cNvPr id="8" name="mock-widget-0"/>
          <p:cNvSpPr/>
          <p:nvPr/>
        </p:nvSpPr>
        <p:spPr>
          <a:xfrm>
            <a:off x="5925312" y="1188720"/>
            <a:ext cx="497434" cy="128016"/>
          </a:xfrm>
          <a:prstGeom prst="roundRect">
            <a:avLst>
              <a:gd name="adj" fmla="val 35714"/>
            </a:avLst>
          </a:prstGeom>
          <a:solidFill>
            <a:srgbClr val="E5393B"/>
          </a:solidFill>
          <a:ln w="12700">
            <a:solidFill>
              <a:srgbClr val="39405A"/>
            </a:solidFill>
            <a:prstDash val="solid"/>
          </a:ln>
        </p:spPr>
      </p:sp>
      <p:sp>
        <p:nvSpPr>
          <p:cNvPr id="9" name="mock-widget-1"/>
          <p:cNvSpPr/>
          <p:nvPr/>
        </p:nvSpPr>
        <p:spPr>
          <a:xfrm>
            <a:off x="5925312" y="1481328"/>
            <a:ext cx="497434" cy="128016"/>
          </a:xfrm>
          <a:prstGeom prst="roundRect">
            <a:avLst>
              <a:gd name="adj" fmla="val 35714"/>
            </a:avLst>
          </a:prstGeom>
          <a:solidFill>
            <a:srgbClr val="39405A"/>
          </a:solidFill>
          <a:ln w="12700">
            <a:solidFill>
              <a:srgbClr val="39405A"/>
            </a:solidFill>
            <a:prstDash val="solid"/>
          </a:ln>
        </p:spPr>
      </p:sp>
      <p:sp>
        <p:nvSpPr>
          <p:cNvPr id="10" name="mock-widget-2"/>
          <p:cNvSpPr/>
          <p:nvPr/>
        </p:nvSpPr>
        <p:spPr>
          <a:xfrm>
            <a:off x="5925312" y="1773936"/>
            <a:ext cx="497434" cy="128016"/>
          </a:xfrm>
          <a:prstGeom prst="roundRect">
            <a:avLst>
              <a:gd name="adj" fmla="val 35714"/>
            </a:avLst>
          </a:prstGeom>
          <a:solidFill>
            <a:srgbClr val="39405A"/>
          </a:solidFill>
          <a:ln w="12700">
            <a:solidFill>
              <a:srgbClr val="39405A"/>
            </a:solidFill>
            <a:prstDash val="solid"/>
          </a:ln>
        </p:spPr>
      </p:sp>
      <p:sp>
        <p:nvSpPr>
          <p:cNvPr id="11" name="mock-tab-0"/>
          <p:cNvSpPr/>
          <p:nvPr/>
        </p:nvSpPr>
        <p:spPr>
          <a:xfrm>
            <a:off x="6605626" y="841248"/>
            <a:ext cx="447142" cy="164592"/>
          </a:xfrm>
          <a:prstGeom prst="roundRect">
            <a:avLst>
              <a:gd name="adj" fmla="val 27778"/>
            </a:avLst>
          </a:prstGeom>
          <a:solidFill>
            <a:srgbClr val="E5393B"/>
          </a:solidFill>
          <a:ln w="12700">
            <a:solidFill>
              <a:srgbClr val="E5393B"/>
            </a:solidFill>
            <a:prstDash val="solid"/>
          </a:ln>
        </p:spPr>
      </p:sp>
      <p:sp>
        <p:nvSpPr>
          <p:cNvPr id="12" name="mock-tab-1"/>
          <p:cNvSpPr/>
          <p:nvPr/>
        </p:nvSpPr>
        <p:spPr>
          <a:xfrm>
            <a:off x="7098487" y="841248"/>
            <a:ext cx="447142" cy="164592"/>
          </a:xfrm>
          <a:prstGeom prst="roundRect">
            <a:avLst>
              <a:gd name="adj" fmla="val 27778"/>
            </a:avLst>
          </a:prstGeom>
          <a:solidFill>
            <a:srgbClr val="39405A"/>
          </a:solidFill>
          <a:ln w="12700">
            <a:solidFill>
              <a:srgbClr val="39405A"/>
            </a:solidFill>
            <a:prstDash val="solid"/>
          </a:ln>
        </p:spPr>
      </p:sp>
      <p:sp>
        <p:nvSpPr>
          <p:cNvPr id="13" name="mock-tab-2"/>
          <p:cNvSpPr/>
          <p:nvPr/>
        </p:nvSpPr>
        <p:spPr>
          <a:xfrm>
            <a:off x="7591349" y="841248"/>
            <a:ext cx="447142" cy="164592"/>
          </a:xfrm>
          <a:prstGeom prst="roundRect">
            <a:avLst>
              <a:gd name="adj" fmla="val 27778"/>
            </a:avLst>
          </a:prstGeom>
          <a:solidFill>
            <a:srgbClr val="39405A"/>
          </a:solidFill>
          <a:ln w="12700">
            <a:solidFill>
              <a:srgbClr val="39405A"/>
            </a:solidFill>
            <a:prstDash val="solid"/>
          </a:ln>
        </p:spPr>
      </p:sp>
      <p:sp>
        <p:nvSpPr>
          <p:cNvPr id="14" name="mock-tab-3"/>
          <p:cNvSpPr/>
          <p:nvPr/>
        </p:nvSpPr>
        <p:spPr>
          <a:xfrm>
            <a:off x="8084210" y="841248"/>
            <a:ext cx="447142" cy="164592"/>
          </a:xfrm>
          <a:prstGeom prst="roundRect">
            <a:avLst>
              <a:gd name="adj" fmla="val 27778"/>
            </a:avLst>
          </a:prstGeom>
          <a:solidFill>
            <a:srgbClr val="39405A"/>
          </a:solidFill>
          <a:ln w="12700">
            <a:solidFill>
              <a:srgbClr val="39405A"/>
            </a:solidFill>
            <a:prstDash val="solid"/>
          </a:ln>
        </p:spPr>
      </p:sp>
      <p:sp>
        <p:nvSpPr>
          <p:cNvPr id="15" name="mock-metric-0"/>
          <p:cNvSpPr/>
          <p:nvPr/>
        </p:nvSpPr>
        <p:spPr>
          <a:xfrm>
            <a:off x="6605626" y="1133856"/>
            <a:ext cx="940003" cy="576072"/>
          </a:xfrm>
          <a:prstGeom prst="roundRect">
            <a:avLst>
              <a:gd name="adj" fmla="val 12698"/>
            </a:avLst>
          </a:prstGeom>
          <a:solidFill>
            <a:srgbClr val="2A3042"/>
          </a:solidFill>
          <a:ln w="12700">
            <a:solidFill>
              <a:srgbClr val="2A3042"/>
            </a:solidFill>
            <a:prstDash val="solid"/>
          </a:ln>
        </p:spPr>
      </p:sp>
      <p:sp>
        <p:nvSpPr>
          <p:cNvPr id="16" name="Text 14"/>
          <p:cNvSpPr txBox="1"/>
          <p:nvPr/>
        </p:nvSpPr>
        <p:spPr>
          <a:xfrm>
            <a:off x="6697066" y="1133856"/>
            <a:ext cx="757123" cy="576072"/>
          </a:xfrm>
          <a:prstGeom prst="rect">
            <a:avLst/>
          </a:prstGeom>
          <a:noFill/>
          <a:ln/>
        </p:spPr>
        <p:txBody>
          <a:bodyPr wrap="square" lIns="0" tIns="0" rIns="0" bIns="0" rtlCol="0" anchor="ctr"/>
          <a:lstStyle/>
          <a:p>
            <a:pPr indent="0" marL="0">
              <a:buNone/>
            </a:pPr>
            <a:r>
              <a:rPr lang="en-US" sz="1000" dirty="0">
                <a:solidFill>
                  <a:srgbClr val="9AA3B5"/>
                </a:solidFill>
              </a:rPr>
              <a:t>Mean</a:t>
            </a:r>
            <a:endParaRPr lang="en-US" sz="1000" dirty="0"/>
          </a:p>
          <a:p>
            <a:pPr indent="0" marL="0">
              <a:buNone/>
            </a:pPr>
            <a:r>
              <a:rPr lang="en-US" sz="1400" b="1" dirty="0">
                <a:solidFill>
                  <a:srgbClr val="FFFFFF"/>
                </a:solidFill>
              </a:rPr>
              <a:t>68.3</a:t>
            </a:r>
            <a:endParaRPr lang="en-US" sz="1000" dirty="0"/>
          </a:p>
        </p:txBody>
      </p:sp>
      <p:sp>
        <p:nvSpPr>
          <p:cNvPr id="17" name="mock-metric-1"/>
          <p:cNvSpPr/>
          <p:nvPr/>
        </p:nvSpPr>
        <p:spPr>
          <a:xfrm>
            <a:off x="7637069" y="1133856"/>
            <a:ext cx="940003" cy="576072"/>
          </a:xfrm>
          <a:prstGeom prst="roundRect">
            <a:avLst>
              <a:gd name="adj" fmla="val 12698"/>
            </a:avLst>
          </a:prstGeom>
          <a:solidFill>
            <a:srgbClr val="2A3042"/>
          </a:solidFill>
          <a:ln w="12700">
            <a:solidFill>
              <a:srgbClr val="2A3042"/>
            </a:solidFill>
            <a:prstDash val="solid"/>
          </a:ln>
        </p:spPr>
      </p:sp>
      <p:sp>
        <p:nvSpPr>
          <p:cNvPr id="18" name="Text 16"/>
          <p:cNvSpPr txBox="1"/>
          <p:nvPr/>
        </p:nvSpPr>
        <p:spPr>
          <a:xfrm>
            <a:off x="7728509" y="1133856"/>
            <a:ext cx="757123" cy="576072"/>
          </a:xfrm>
          <a:prstGeom prst="rect">
            <a:avLst/>
          </a:prstGeom>
          <a:noFill/>
          <a:ln/>
        </p:spPr>
        <p:txBody>
          <a:bodyPr wrap="square" lIns="0" tIns="0" rIns="0" bIns="0" rtlCol="0" anchor="ctr"/>
          <a:lstStyle/>
          <a:p>
            <a:pPr indent="0" marL="0">
              <a:buNone/>
            </a:pPr>
            <a:r>
              <a:rPr lang="en-US" sz="1000" dirty="0">
                <a:solidFill>
                  <a:srgbClr val="9AA3B5"/>
                </a:solidFill>
              </a:rPr>
              <a:t>Median</a:t>
            </a:r>
            <a:endParaRPr lang="en-US" sz="1000" dirty="0"/>
          </a:p>
          <a:p>
            <a:pPr indent="0" marL="0">
              <a:buNone/>
            </a:pPr>
            <a:r>
              <a:rPr lang="en-US" sz="1400" b="1" dirty="0">
                <a:solidFill>
                  <a:srgbClr val="FFFFFF"/>
                </a:solidFill>
              </a:rPr>
              <a:t>69.5</a:t>
            </a:r>
            <a:endParaRPr lang="en-US" sz="1000" dirty="0"/>
          </a:p>
        </p:txBody>
      </p:sp>
      <p:sp>
        <p:nvSpPr>
          <p:cNvPr id="19" name="mock-metric-2"/>
          <p:cNvSpPr/>
          <p:nvPr/>
        </p:nvSpPr>
        <p:spPr>
          <a:xfrm>
            <a:off x="6605626" y="1801368"/>
            <a:ext cx="940003" cy="576072"/>
          </a:xfrm>
          <a:prstGeom prst="roundRect">
            <a:avLst>
              <a:gd name="adj" fmla="val 12698"/>
            </a:avLst>
          </a:prstGeom>
          <a:solidFill>
            <a:srgbClr val="2A3042"/>
          </a:solidFill>
          <a:ln w="12700">
            <a:solidFill>
              <a:srgbClr val="2A3042"/>
            </a:solidFill>
            <a:prstDash val="solid"/>
          </a:ln>
        </p:spPr>
      </p:sp>
      <p:sp>
        <p:nvSpPr>
          <p:cNvPr id="20" name="Text 18"/>
          <p:cNvSpPr txBox="1"/>
          <p:nvPr/>
        </p:nvSpPr>
        <p:spPr>
          <a:xfrm>
            <a:off x="6697066" y="1801368"/>
            <a:ext cx="757123" cy="576072"/>
          </a:xfrm>
          <a:prstGeom prst="rect">
            <a:avLst/>
          </a:prstGeom>
          <a:noFill/>
          <a:ln/>
        </p:spPr>
        <p:txBody>
          <a:bodyPr wrap="square" lIns="0" tIns="0" rIns="0" bIns="0" rtlCol="0" anchor="ctr"/>
          <a:lstStyle/>
          <a:p>
            <a:pPr indent="0" marL="0">
              <a:buNone/>
            </a:pPr>
            <a:r>
              <a:rPr lang="en-US" sz="1000" dirty="0">
                <a:solidFill>
                  <a:srgbClr val="9AA3B5"/>
                </a:solidFill>
              </a:rPr>
              <a:t>Std Dev</a:t>
            </a:r>
            <a:endParaRPr lang="en-US" sz="1000" dirty="0"/>
          </a:p>
          <a:p>
            <a:pPr indent="0" marL="0">
              <a:buNone/>
            </a:pPr>
            <a:r>
              <a:rPr lang="en-US" sz="1400" b="1" dirty="0">
                <a:solidFill>
                  <a:srgbClr val="FFFFFF"/>
                </a:solidFill>
              </a:rPr>
              <a:t>12.5</a:t>
            </a:r>
            <a:endParaRPr lang="en-US" sz="1000" dirty="0"/>
          </a:p>
        </p:txBody>
      </p:sp>
      <p:sp>
        <p:nvSpPr>
          <p:cNvPr id="21" name="mock-metric-3"/>
          <p:cNvSpPr/>
          <p:nvPr/>
        </p:nvSpPr>
        <p:spPr>
          <a:xfrm>
            <a:off x="7637069" y="1801368"/>
            <a:ext cx="940003" cy="576072"/>
          </a:xfrm>
          <a:prstGeom prst="roundRect">
            <a:avLst>
              <a:gd name="adj" fmla="val 12698"/>
            </a:avLst>
          </a:prstGeom>
          <a:solidFill>
            <a:srgbClr val="2A3042"/>
          </a:solidFill>
          <a:ln w="12700">
            <a:solidFill>
              <a:srgbClr val="2A3042"/>
            </a:solidFill>
            <a:prstDash val="solid"/>
          </a:ln>
        </p:spPr>
      </p:sp>
      <p:sp>
        <p:nvSpPr>
          <p:cNvPr id="22" name="Text 20"/>
          <p:cNvSpPr txBox="1"/>
          <p:nvPr/>
        </p:nvSpPr>
        <p:spPr>
          <a:xfrm>
            <a:off x="7728509" y="1801368"/>
            <a:ext cx="757123" cy="576072"/>
          </a:xfrm>
          <a:prstGeom prst="rect">
            <a:avLst/>
          </a:prstGeom>
          <a:noFill/>
          <a:ln/>
        </p:spPr>
        <p:txBody>
          <a:bodyPr wrap="square" lIns="0" tIns="0" rIns="0" bIns="0" rtlCol="0" anchor="ctr"/>
          <a:lstStyle/>
          <a:p>
            <a:pPr indent="0" marL="0">
              <a:buNone/>
            </a:pPr>
            <a:r>
              <a:rPr lang="en-US" sz="1000" dirty="0">
                <a:solidFill>
                  <a:srgbClr val="9AA3B5"/>
                </a:solidFill>
              </a:rPr>
              <a:t>IQR</a:t>
            </a:r>
            <a:endParaRPr lang="en-US" sz="1000" dirty="0"/>
          </a:p>
          <a:p>
            <a:pPr indent="0" marL="0">
              <a:buNone/>
            </a:pPr>
            <a:r>
              <a:rPr lang="en-US" sz="1400" b="1" dirty="0">
                <a:solidFill>
                  <a:srgbClr val="FFFFFF"/>
                </a:solidFill>
              </a:rPr>
              <a:t>15</a:t>
            </a:r>
            <a:endParaRPr lang="en-US" sz="1000" dirty="0"/>
          </a:p>
        </p:txBody>
      </p:sp>
      <p:sp>
        <p:nvSpPr>
          <p:cNvPr id="23" name="mock-bar-0"/>
          <p:cNvSpPr/>
          <p:nvPr/>
        </p:nvSpPr>
        <p:spPr>
          <a:xfrm>
            <a:off x="6633058" y="4171742"/>
            <a:ext cx="191567" cy="80218"/>
          </a:xfrm>
          <a:prstGeom prst="rect">
            <a:avLst/>
          </a:prstGeom>
          <a:solidFill>
            <a:srgbClr val="2DD4BF"/>
          </a:solidFill>
          <a:ln w="12700">
            <a:solidFill>
              <a:srgbClr val="2DD4BF"/>
            </a:solidFill>
            <a:prstDash val="solid"/>
          </a:ln>
        </p:spPr>
      </p:sp>
      <p:sp>
        <p:nvSpPr>
          <p:cNvPr id="24" name="mock-bar-1"/>
          <p:cNvSpPr/>
          <p:nvPr/>
        </p:nvSpPr>
        <p:spPr>
          <a:xfrm>
            <a:off x="6879488" y="4224528"/>
            <a:ext cx="191567" cy="27432"/>
          </a:xfrm>
          <a:prstGeom prst="rect">
            <a:avLst/>
          </a:prstGeom>
          <a:solidFill>
            <a:srgbClr val="2DD4BF"/>
          </a:solidFill>
          <a:ln w="12700">
            <a:solidFill>
              <a:srgbClr val="2DD4BF"/>
            </a:solidFill>
            <a:prstDash val="solid"/>
          </a:ln>
        </p:spPr>
      </p:sp>
      <p:sp>
        <p:nvSpPr>
          <p:cNvPr id="25" name="mock-bar-2"/>
          <p:cNvSpPr/>
          <p:nvPr/>
        </p:nvSpPr>
        <p:spPr>
          <a:xfrm>
            <a:off x="7125919" y="4171742"/>
            <a:ext cx="191567" cy="80218"/>
          </a:xfrm>
          <a:prstGeom prst="rect">
            <a:avLst/>
          </a:prstGeom>
          <a:solidFill>
            <a:srgbClr val="2DD4BF"/>
          </a:solidFill>
          <a:ln w="12700">
            <a:solidFill>
              <a:srgbClr val="2DD4BF"/>
            </a:solidFill>
            <a:prstDash val="solid"/>
          </a:ln>
        </p:spPr>
      </p:sp>
      <p:sp>
        <p:nvSpPr>
          <p:cNvPr id="26" name="mock-bar-3"/>
          <p:cNvSpPr/>
          <p:nvPr/>
        </p:nvSpPr>
        <p:spPr>
          <a:xfrm>
            <a:off x="7372350" y="3850871"/>
            <a:ext cx="191567" cy="401089"/>
          </a:xfrm>
          <a:prstGeom prst="rect">
            <a:avLst/>
          </a:prstGeom>
          <a:solidFill>
            <a:srgbClr val="2DD4BF"/>
          </a:solidFill>
          <a:ln w="12700">
            <a:solidFill>
              <a:srgbClr val="2DD4BF"/>
            </a:solidFill>
            <a:prstDash val="solid"/>
          </a:ln>
        </p:spPr>
      </p:sp>
      <p:sp>
        <p:nvSpPr>
          <p:cNvPr id="27" name="mock-bar-4"/>
          <p:cNvSpPr/>
          <p:nvPr/>
        </p:nvSpPr>
        <p:spPr>
          <a:xfrm>
            <a:off x="7618781" y="3209128"/>
            <a:ext cx="191567" cy="1042832"/>
          </a:xfrm>
          <a:prstGeom prst="rect">
            <a:avLst/>
          </a:prstGeom>
          <a:solidFill>
            <a:srgbClr val="2DD4BF"/>
          </a:solidFill>
          <a:ln w="12700">
            <a:solidFill>
              <a:srgbClr val="2DD4BF"/>
            </a:solidFill>
            <a:prstDash val="solid"/>
          </a:ln>
        </p:spPr>
      </p:sp>
      <p:sp>
        <p:nvSpPr>
          <p:cNvPr id="28" name="mock-bar-5"/>
          <p:cNvSpPr/>
          <p:nvPr/>
        </p:nvSpPr>
        <p:spPr>
          <a:xfrm>
            <a:off x="7865212" y="2487168"/>
            <a:ext cx="191567" cy="1764792"/>
          </a:xfrm>
          <a:prstGeom prst="rect">
            <a:avLst/>
          </a:prstGeom>
          <a:solidFill>
            <a:srgbClr val="2DD4BF"/>
          </a:solidFill>
          <a:ln w="12700">
            <a:solidFill>
              <a:srgbClr val="2DD4BF"/>
            </a:solidFill>
            <a:prstDash val="solid"/>
          </a:ln>
        </p:spPr>
      </p:sp>
      <p:sp>
        <p:nvSpPr>
          <p:cNvPr id="29" name="mock-bar-6"/>
          <p:cNvSpPr/>
          <p:nvPr/>
        </p:nvSpPr>
        <p:spPr>
          <a:xfrm>
            <a:off x="8111642" y="3128911"/>
            <a:ext cx="191567" cy="1123049"/>
          </a:xfrm>
          <a:prstGeom prst="rect">
            <a:avLst/>
          </a:prstGeom>
          <a:solidFill>
            <a:srgbClr val="2DD4BF"/>
          </a:solidFill>
          <a:ln w="12700">
            <a:solidFill>
              <a:srgbClr val="2DD4BF"/>
            </a:solidFill>
            <a:prstDash val="solid"/>
          </a:ln>
        </p:spPr>
      </p:sp>
      <p:sp>
        <p:nvSpPr>
          <p:cNvPr id="30" name="mock-bar-7"/>
          <p:cNvSpPr/>
          <p:nvPr/>
        </p:nvSpPr>
        <p:spPr>
          <a:xfrm>
            <a:off x="8358073" y="3931089"/>
            <a:ext cx="191567" cy="320871"/>
          </a:xfrm>
          <a:prstGeom prst="rect">
            <a:avLst/>
          </a:prstGeom>
          <a:solidFill>
            <a:srgbClr val="2DD4BF"/>
          </a:solidFill>
          <a:ln w="12700">
            <a:solidFill>
              <a:srgbClr val="2DD4BF"/>
            </a:solidFill>
            <a:prstDash val="solid"/>
          </a:ln>
        </p:spPr>
      </p:sp>
      <p:sp>
        <p:nvSpPr>
          <p:cNvPr id="31" name="mock-mean-line"/>
          <p:cNvSpPr/>
          <p:nvPr/>
        </p:nvSpPr>
        <p:spPr>
          <a:xfrm>
            <a:off x="7919102" y="2487168"/>
            <a:ext cx="0" cy="1764792"/>
          </a:xfrm>
          <a:prstGeom prst="line">
            <a:avLst/>
          </a:prstGeom>
          <a:noFill/>
          <a:ln w="19050">
            <a:solidFill>
              <a:srgbClr val="E5393B"/>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Tujuan Pembelajaran</a:t>
            </a:r>
            <a:endParaRPr lang="en-US" sz="3400" dirty="0"/>
          </a:p>
        </p:txBody>
      </p:sp>
      <p:sp>
        <p:nvSpPr>
          <p:cNvPr id="3" name="goal-card-0"/>
          <p:cNvSpPr/>
          <p:nvPr/>
        </p:nvSpPr>
        <p:spPr>
          <a:xfrm>
            <a:off x="457200" y="1325880"/>
            <a:ext cx="2560320" cy="2423160"/>
          </a:xfrm>
          <a:prstGeom prst="roundRect">
            <a:avLst>
              <a:gd name="adj" fmla="val 4528"/>
            </a:avLst>
          </a:prstGeom>
          <a:solidFill>
            <a:srgbClr val="F3F4F6"/>
          </a:solidFill>
          <a:ln w="12700">
            <a:solidFill>
              <a:srgbClr val="F3F4F6"/>
            </a:solidFill>
            <a:prstDash val="solid"/>
          </a:ln>
        </p:spPr>
      </p:sp>
      <p:sp>
        <p:nvSpPr>
          <p:cNvPr id="4" name="goal-0-bg"/>
          <p:cNvSpPr/>
          <p:nvPr/>
        </p:nvSpPr>
        <p:spPr>
          <a:xfrm>
            <a:off x="685800" y="1554480"/>
            <a:ext cx="640080" cy="640080"/>
          </a:xfrm>
          <a:prstGeom prst="ellipse">
            <a:avLst/>
          </a:prstGeom>
          <a:solidFill>
            <a:srgbClr val="E5393B"/>
          </a:solidFill>
          <a:ln w="12700">
            <a:solidFill>
              <a:srgbClr val="E5393B"/>
            </a:solidFill>
            <a:prstDash val="solid"/>
          </a:ln>
        </p:spPr>
      </p:sp>
      <p:pic>
        <p:nvPicPr>
          <p:cNvPr id="5" name="goal-0-icon" descr="FaLightbulb">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685800" y="2377440"/>
            <a:ext cx="2103120" cy="365760"/>
          </a:xfrm>
          <a:prstGeom prst="rect">
            <a:avLst/>
          </a:prstGeom>
          <a:noFill/>
          <a:ln/>
        </p:spPr>
        <p:txBody>
          <a:bodyPr wrap="square" lIns="0" tIns="0" rIns="0" bIns="0" rtlCol="0" anchor="t"/>
          <a:lstStyle/>
          <a:p>
            <a:pPr indent="0" marL="0">
              <a:buNone/>
            </a:pPr>
            <a:r>
              <a:rPr lang="en-US" sz="2000" b="1" dirty="0">
                <a:solidFill>
                  <a:schemeClr val="tx1"/>
                </a:solidFill>
              </a:rPr>
              <a:t>Memahami</a:t>
            </a:r>
            <a:endParaRPr lang="en-US" sz="2000" dirty="0"/>
          </a:p>
        </p:txBody>
      </p:sp>
      <p:sp>
        <p:nvSpPr>
          <p:cNvPr id="7" name="Text 4"/>
          <p:cNvSpPr txBox="1"/>
          <p:nvPr/>
        </p:nvSpPr>
        <p:spPr>
          <a:xfrm>
            <a:off x="685800" y="2834640"/>
            <a:ext cx="2103120" cy="822960"/>
          </a:xfrm>
          <a:prstGeom prst="rect">
            <a:avLst/>
          </a:prstGeom>
          <a:noFill/>
          <a:ln/>
        </p:spPr>
        <p:txBody>
          <a:bodyPr wrap="square" lIns="0" tIns="0" rIns="0" bIns="0" rtlCol="0" anchor="t"/>
          <a:lstStyle/>
          <a:p>
            <a:pPr indent="0" marL="0">
              <a:buNone/>
            </a:pPr>
            <a:r>
              <a:rPr lang="en-US" sz="1400" dirty="0">
                <a:solidFill>
                  <a:srgbClr val="5B6475"/>
                </a:solidFill>
              </a:rPr>
              <a:t>Cara kerja Streamlit: skrip dijalankan ulang di setiap interaksi</a:t>
            </a:r>
            <a:endParaRPr lang="en-US" sz="1400" dirty="0"/>
          </a:p>
        </p:txBody>
      </p:sp>
      <p:sp>
        <p:nvSpPr>
          <p:cNvPr id="8" name="goal-card-1"/>
          <p:cNvSpPr/>
          <p:nvPr/>
        </p:nvSpPr>
        <p:spPr>
          <a:xfrm>
            <a:off x="3291840" y="1325880"/>
            <a:ext cx="2560320" cy="2423160"/>
          </a:xfrm>
          <a:prstGeom prst="roundRect">
            <a:avLst>
              <a:gd name="adj" fmla="val 4528"/>
            </a:avLst>
          </a:prstGeom>
          <a:solidFill>
            <a:srgbClr val="F3F4F6"/>
          </a:solidFill>
          <a:ln w="12700">
            <a:solidFill>
              <a:srgbClr val="F3F4F6"/>
            </a:solidFill>
            <a:prstDash val="solid"/>
          </a:ln>
        </p:spPr>
      </p:sp>
      <p:sp>
        <p:nvSpPr>
          <p:cNvPr id="9" name="goal-1-bg"/>
          <p:cNvSpPr/>
          <p:nvPr/>
        </p:nvSpPr>
        <p:spPr>
          <a:xfrm>
            <a:off x="3520440" y="1554480"/>
            <a:ext cx="640080" cy="640080"/>
          </a:xfrm>
          <a:prstGeom prst="ellipse">
            <a:avLst/>
          </a:prstGeom>
          <a:solidFill>
            <a:srgbClr val="0B7F7A"/>
          </a:solidFill>
          <a:ln w="12700">
            <a:solidFill>
              <a:srgbClr val="0B7F7A"/>
            </a:solidFill>
            <a:prstDash val="solid"/>
          </a:ln>
        </p:spPr>
      </p:sp>
      <p:pic>
        <p:nvPicPr>
          <p:cNvPr id="10" name="goal-1-icon" descr="FaLaptopCode">    </p:cNvPr>
          <p:cNvPicPr>
            <a:picLocks noChangeAspect="1"/>
          </p:cNvPicPr>
          <p:nvPr/>
        </p:nvPicPr>
        <p:blipFill>
          <a:blip r:embed="rId2"/>
          <a:stretch>
            <a:fillRect/>
          </a:stretch>
        </p:blipFill>
        <p:spPr>
          <a:xfrm>
            <a:off x="3680460" y="1714500"/>
            <a:ext cx="320040" cy="320040"/>
          </a:xfrm>
          <a:prstGeom prst="rect">
            <a:avLst/>
          </a:prstGeom>
        </p:spPr>
      </p:pic>
      <p:sp>
        <p:nvSpPr>
          <p:cNvPr id="11" name="Text 7"/>
          <p:cNvSpPr txBox="1"/>
          <p:nvPr/>
        </p:nvSpPr>
        <p:spPr>
          <a:xfrm>
            <a:off x="3520440" y="2377440"/>
            <a:ext cx="2103120" cy="365760"/>
          </a:xfrm>
          <a:prstGeom prst="rect">
            <a:avLst/>
          </a:prstGeom>
          <a:noFill/>
          <a:ln/>
        </p:spPr>
        <p:txBody>
          <a:bodyPr wrap="square" lIns="0" tIns="0" rIns="0" bIns="0" rtlCol="0" anchor="t"/>
          <a:lstStyle/>
          <a:p>
            <a:pPr indent="0" marL="0">
              <a:buNone/>
            </a:pPr>
            <a:r>
              <a:rPr lang="en-US" sz="2000" b="1" dirty="0">
                <a:solidFill>
                  <a:schemeClr val="tx1"/>
                </a:solidFill>
              </a:rPr>
              <a:t>Membangun</a:t>
            </a:r>
            <a:endParaRPr lang="en-US" sz="2000" dirty="0"/>
          </a:p>
        </p:txBody>
      </p:sp>
      <p:sp>
        <p:nvSpPr>
          <p:cNvPr id="12" name="Text 8"/>
          <p:cNvSpPr txBox="1"/>
          <p:nvPr/>
        </p:nvSpPr>
        <p:spPr>
          <a:xfrm>
            <a:off x="3520440" y="2834640"/>
            <a:ext cx="2103120" cy="822960"/>
          </a:xfrm>
          <a:prstGeom prst="rect">
            <a:avLst/>
          </a:prstGeom>
          <a:noFill/>
          <a:ln/>
        </p:spPr>
        <p:txBody>
          <a:bodyPr wrap="square" lIns="0" tIns="0" rIns="0" bIns="0" rtlCol="0" anchor="t"/>
          <a:lstStyle/>
          <a:p>
            <a:pPr indent="0" marL="0">
              <a:buNone/>
            </a:pPr>
            <a:r>
              <a:rPr lang="en-US" sz="1400" dirty="0">
                <a:solidFill>
                  <a:srgbClr val="5B6475"/>
                </a:solidFill>
              </a:rPr>
              <a:t>Dashboard multi-tab dengan filter, metrik, dan grafik</a:t>
            </a:r>
            <a:endParaRPr lang="en-US" sz="1400" dirty="0"/>
          </a:p>
        </p:txBody>
      </p:sp>
      <p:sp>
        <p:nvSpPr>
          <p:cNvPr id="13" name="goal-card-2"/>
          <p:cNvSpPr/>
          <p:nvPr/>
        </p:nvSpPr>
        <p:spPr>
          <a:xfrm>
            <a:off x="6126480" y="1325880"/>
            <a:ext cx="2560320" cy="2423160"/>
          </a:xfrm>
          <a:prstGeom prst="roundRect">
            <a:avLst>
              <a:gd name="adj" fmla="val 4528"/>
            </a:avLst>
          </a:prstGeom>
          <a:solidFill>
            <a:srgbClr val="F3F4F6"/>
          </a:solidFill>
          <a:ln w="12700">
            <a:solidFill>
              <a:srgbClr val="F3F4F6"/>
            </a:solidFill>
            <a:prstDash val="solid"/>
          </a:ln>
        </p:spPr>
      </p:sp>
      <p:sp>
        <p:nvSpPr>
          <p:cNvPr id="14" name="goal-2-bg"/>
          <p:cNvSpPr/>
          <p:nvPr/>
        </p:nvSpPr>
        <p:spPr>
          <a:xfrm>
            <a:off x="6355080" y="1554480"/>
            <a:ext cx="640080" cy="640080"/>
          </a:xfrm>
          <a:prstGeom prst="ellipse">
            <a:avLst/>
          </a:prstGeom>
          <a:solidFill>
            <a:srgbClr val="64748B"/>
          </a:solidFill>
          <a:ln w="12700">
            <a:solidFill>
              <a:srgbClr val="64748B"/>
            </a:solidFill>
            <a:prstDash val="solid"/>
          </a:ln>
        </p:spPr>
      </p:sp>
      <p:pic>
        <p:nvPicPr>
          <p:cNvPr id="15" name="goal-2-icon" descr="FaChartBar">    </p:cNvPr>
          <p:cNvPicPr>
            <a:picLocks noChangeAspect="1"/>
          </p:cNvPicPr>
          <p:nvPr/>
        </p:nvPicPr>
        <p:blipFill>
          <a:blip r:embed="rId3"/>
          <a:stretch>
            <a:fillRect/>
          </a:stretch>
        </p:blipFill>
        <p:spPr>
          <a:xfrm>
            <a:off x="6515100" y="1714500"/>
            <a:ext cx="320040" cy="320040"/>
          </a:xfrm>
          <a:prstGeom prst="rect">
            <a:avLst/>
          </a:prstGeom>
        </p:spPr>
      </p:pic>
      <p:sp>
        <p:nvSpPr>
          <p:cNvPr id="16" name="Text 11"/>
          <p:cNvSpPr txBox="1"/>
          <p:nvPr/>
        </p:nvSpPr>
        <p:spPr>
          <a:xfrm>
            <a:off x="6355080" y="2377440"/>
            <a:ext cx="2103120" cy="365760"/>
          </a:xfrm>
          <a:prstGeom prst="rect">
            <a:avLst/>
          </a:prstGeom>
          <a:noFill/>
          <a:ln/>
        </p:spPr>
        <p:txBody>
          <a:bodyPr wrap="square" lIns="0" tIns="0" rIns="0" bIns="0" rtlCol="0" anchor="t"/>
          <a:lstStyle/>
          <a:p>
            <a:pPr indent="0" marL="0">
              <a:buNone/>
            </a:pPr>
            <a:r>
              <a:rPr lang="en-US" sz="2000" b="1" dirty="0">
                <a:solidFill>
                  <a:schemeClr val="tx1"/>
                </a:solidFill>
              </a:rPr>
              <a:t>Menafsirkan</a:t>
            </a:r>
            <a:endParaRPr lang="en-US" sz="2000" dirty="0"/>
          </a:p>
        </p:txBody>
      </p:sp>
      <p:sp>
        <p:nvSpPr>
          <p:cNvPr id="17" name="Text 12"/>
          <p:cNvSpPr txBox="1"/>
          <p:nvPr/>
        </p:nvSpPr>
        <p:spPr>
          <a:xfrm>
            <a:off x="6355080" y="2834640"/>
            <a:ext cx="2103120" cy="822960"/>
          </a:xfrm>
          <a:prstGeom prst="rect">
            <a:avLst/>
          </a:prstGeom>
          <a:noFill/>
          <a:ln/>
        </p:spPr>
        <p:txBody>
          <a:bodyPr wrap="square" lIns="0" tIns="0" rIns="0" bIns="0" rtlCol="0" anchor="t"/>
          <a:lstStyle/>
          <a:p>
            <a:pPr indent="0" marL="0">
              <a:buNone/>
            </a:pPr>
            <a:r>
              <a:rPr lang="en-US" sz="1400" dirty="0">
                <a:solidFill>
                  <a:srgbClr val="5B6475"/>
                </a:solidFill>
              </a:rPr>
              <a:t>Statistik deskriptif secara interaktif dan jujur</a:t>
            </a:r>
            <a:endParaRPr lang="en-US" sz="1400" dirty="0"/>
          </a:p>
        </p:txBody>
      </p:sp>
      <p:sp>
        <p:nvSpPr>
          <p:cNvPr id="18" name="goal-result-bg"/>
          <p:cNvSpPr/>
          <p:nvPr/>
        </p:nvSpPr>
        <p:spPr>
          <a:xfrm>
            <a:off x="457200" y="3977640"/>
            <a:ext cx="411480" cy="411480"/>
          </a:xfrm>
          <a:prstGeom prst="ellipse">
            <a:avLst/>
          </a:prstGeom>
          <a:solidFill>
            <a:srgbClr val="0B7F7A"/>
          </a:solidFill>
          <a:ln w="12700">
            <a:solidFill>
              <a:srgbClr val="0B7F7A"/>
            </a:solidFill>
            <a:prstDash val="solid"/>
          </a:ln>
        </p:spPr>
      </p:sp>
      <p:pic>
        <p:nvPicPr>
          <p:cNvPr id="19" name="goal-result-icon" descr="FaCheckCircle">    </p:cNvPr>
          <p:cNvPicPr>
            <a:picLocks noChangeAspect="1"/>
          </p:cNvPicPr>
          <p:nvPr/>
        </p:nvPicPr>
        <p:blipFill>
          <a:blip r:embed="rId4"/>
          <a:stretch>
            <a:fillRect/>
          </a:stretch>
        </p:blipFill>
        <p:spPr>
          <a:xfrm>
            <a:off x="560070" y="4080510"/>
            <a:ext cx="205740" cy="205740"/>
          </a:xfrm>
          <a:prstGeom prst="rect">
            <a:avLst/>
          </a:prstGeom>
        </p:spPr>
      </p:pic>
      <p:sp>
        <p:nvSpPr>
          <p:cNvPr id="20" name="Text 14"/>
          <p:cNvSpPr txBox="1"/>
          <p:nvPr/>
        </p:nvSpPr>
        <p:spPr>
          <a:xfrm>
            <a:off x="1005840" y="3977640"/>
            <a:ext cx="7680960" cy="411480"/>
          </a:xfrm>
          <a:prstGeom prst="rect">
            <a:avLst/>
          </a:prstGeom>
          <a:noFill/>
          <a:ln/>
        </p:spPr>
        <p:txBody>
          <a:bodyPr wrap="square" lIns="0" tIns="0" rIns="0" bIns="0" rtlCol="0" anchor="ctr"/>
          <a:lstStyle/>
          <a:p>
            <a:pPr indent="0" marL="0">
              <a:buNone/>
            </a:pPr>
            <a:r>
              <a:rPr lang="en-US" sz="1600" b="1" dirty="0">
                <a:solidFill>
                  <a:schemeClr val="tx1"/>
                </a:solidFill>
              </a:rPr>
              <a:t>Hasil akhir: dashboard yang bisa dipakai untuk data CSV apa pun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Peta Jalan 90 Menit</a:t>
            </a:r>
            <a:endParaRPr lang="en-US" sz="3400" dirty="0"/>
          </a:p>
        </p:txBody>
      </p:sp>
      <p:sp>
        <p:nvSpPr>
          <p:cNvPr id="3" name="plan-block-0"/>
          <p:cNvSpPr/>
          <p:nvPr/>
        </p:nvSpPr>
        <p:spPr>
          <a:xfrm>
            <a:off x="457200" y="1463040"/>
            <a:ext cx="1280160" cy="1188720"/>
          </a:xfrm>
          <a:prstGeom prst="roundRect">
            <a:avLst>
              <a:gd name="adj" fmla="val 9231"/>
            </a:avLst>
          </a:prstGeom>
          <a:solidFill>
            <a:srgbClr val="0B7F7A"/>
          </a:solidFill>
          <a:ln w="12700">
            <a:solidFill>
              <a:srgbClr val="0B7F7A"/>
            </a:solidFill>
            <a:prstDash val="solid"/>
          </a:ln>
        </p:spPr>
      </p:sp>
      <p:sp>
        <p:nvSpPr>
          <p:cNvPr id="4" name="Text 2"/>
          <p:cNvSpPr txBox="1"/>
          <p:nvPr/>
        </p:nvSpPr>
        <p:spPr>
          <a:xfrm>
            <a:off x="457200" y="1463040"/>
            <a:ext cx="1280160" cy="1188720"/>
          </a:xfrm>
          <a:prstGeom prst="rect">
            <a:avLst/>
          </a:prstGeom>
          <a:noFill/>
          <a:ln/>
        </p:spPr>
        <p:txBody>
          <a:bodyPr wrap="square" lIns="0" tIns="0" rIns="0" bIns="0" rtlCol="0" anchor="ctr"/>
          <a:lstStyle/>
          <a:p>
            <a:pPr algn="ctr" indent="0" marL="0">
              <a:buNone/>
            </a:pPr>
            <a:r>
              <a:rPr lang="en-US" sz="4000" b="1" dirty="0">
                <a:solidFill>
                  <a:srgbClr val="FFFFFF"/>
                </a:solidFill>
              </a:rPr>
              <a:t>15</a:t>
            </a:r>
            <a:endParaRPr lang="en-US" sz="4000" dirty="0"/>
          </a:p>
          <a:p>
            <a:pPr algn="ctr" indent="0" marL="0">
              <a:buNone/>
            </a:pPr>
            <a:r>
              <a:rPr lang="en-US" sz="1400" dirty="0">
                <a:solidFill>
                  <a:srgbClr val="FFFFFF"/>
                </a:solidFill>
              </a:rPr>
              <a:t>menit</a:t>
            </a:r>
            <a:endParaRPr lang="en-US" sz="4000" dirty="0"/>
          </a:p>
        </p:txBody>
      </p:sp>
      <p:sp>
        <p:nvSpPr>
          <p:cNvPr id="5" name="Text 3"/>
          <p:cNvSpPr txBox="1"/>
          <p:nvPr/>
        </p:nvSpPr>
        <p:spPr>
          <a:xfrm>
            <a:off x="457200" y="2834640"/>
            <a:ext cx="1280160" cy="914400"/>
          </a:xfrm>
          <a:prstGeom prst="rect">
            <a:avLst/>
          </a:prstGeom>
          <a:noFill/>
          <a:ln/>
        </p:spPr>
        <p:txBody>
          <a:bodyPr wrap="square" lIns="0" tIns="0" rIns="0" bIns="0" rtlCol="0" anchor="t"/>
          <a:lstStyle/>
          <a:p>
            <a:pPr indent="0" marL="0">
              <a:buNone/>
            </a:pPr>
            <a:r>
              <a:rPr lang="en-US" sz="1400" dirty="0">
                <a:solidFill>
                  <a:schemeClr val="tx1"/>
                </a:solidFill>
              </a:rPr>
              <a:t>Setup dan Hello Streamlit</a:t>
            </a:r>
            <a:endParaRPr lang="en-US" sz="1400" dirty="0"/>
          </a:p>
        </p:txBody>
      </p:sp>
      <p:sp>
        <p:nvSpPr>
          <p:cNvPr id="6" name="plan-block-1"/>
          <p:cNvSpPr/>
          <p:nvPr/>
        </p:nvSpPr>
        <p:spPr>
          <a:xfrm>
            <a:off x="1920240" y="1463040"/>
            <a:ext cx="1706880" cy="1188720"/>
          </a:xfrm>
          <a:prstGeom prst="roundRect">
            <a:avLst>
              <a:gd name="adj" fmla="val 9231"/>
            </a:avLst>
          </a:prstGeom>
          <a:solidFill>
            <a:srgbClr val="F5A524"/>
          </a:solidFill>
          <a:ln w="12700">
            <a:solidFill>
              <a:srgbClr val="F5A524"/>
            </a:solidFill>
            <a:prstDash val="solid"/>
          </a:ln>
        </p:spPr>
      </p:sp>
      <p:sp>
        <p:nvSpPr>
          <p:cNvPr id="7" name="Text 5"/>
          <p:cNvSpPr txBox="1"/>
          <p:nvPr/>
        </p:nvSpPr>
        <p:spPr>
          <a:xfrm>
            <a:off x="1920240" y="1463040"/>
            <a:ext cx="1706880" cy="1188720"/>
          </a:xfrm>
          <a:prstGeom prst="rect">
            <a:avLst/>
          </a:prstGeom>
          <a:noFill/>
          <a:ln/>
        </p:spPr>
        <p:txBody>
          <a:bodyPr wrap="square" lIns="0" tIns="0" rIns="0" bIns="0" rtlCol="0" anchor="ctr"/>
          <a:lstStyle/>
          <a:p>
            <a:pPr algn="ctr" indent="0" marL="0">
              <a:buNone/>
            </a:pPr>
            <a:r>
              <a:rPr lang="en-US" sz="4000" b="1" dirty="0">
                <a:solidFill>
                  <a:srgbClr val="14161F"/>
                </a:solidFill>
              </a:rPr>
              <a:t>20</a:t>
            </a:r>
            <a:endParaRPr lang="en-US" sz="4000" dirty="0"/>
          </a:p>
          <a:p>
            <a:pPr algn="ctr" indent="0" marL="0">
              <a:buNone/>
            </a:pPr>
            <a:r>
              <a:rPr lang="en-US" sz="1400" dirty="0">
                <a:solidFill>
                  <a:srgbClr val="14161F"/>
                </a:solidFill>
              </a:rPr>
              <a:t>menit</a:t>
            </a:r>
            <a:endParaRPr lang="en-US" sz="4000" dirty="0"/>
          </a:p>
        </p:txBody>
      </p:sp>
      <p:sp>
        <p:nvSpPr>
          <p:cNvPr id="8" name="Text 6"/>
          <p:cNvSpPr txBox="1"/>
          <p:nvPr/>
        </p:nvSpPr>
        <p:spPr>
          <a:xfrm>
            <a:off x="1920240" y="2834640"/>
            <a:ext cx="1706880" cy="914400"/>
          </a:xfrm>
          <a:prstGeom prst="rect">
            <a:avLst/>
          </a:prstGeom>
          <a:noFill/>
          <a:ln/>
        </p:spPr>
        <p:txBody>
          <a:bodyPr wrap="square" lIns="0" tIns="0" rIns="0" bIns="0" rtlCol="0" anchor="t"/>
          <a:lstStyle/>
          <a:p>
            <a:pPr indent="0" marL="0">
              <a:buNone/>
            </a:pPr>
            <a:r>
              <a:rPr lang="en-US" sz="1400" dirty="0">
                <a:solidFill>
                  <a:schemeClr val="tx1"/>
                </a:solidFill>
              </a:rPr>
              <a:t>Elemen, widget, layout</a:t>
            </a:r>
            <a:endParaRPr lang="en-US" sz="1400" dirty="0"/>
          </a:p>
        </p:txBody>
      </p:sp>
      <p:sp>
        <p:nvSpPr>
          <p:cNvPr id="9" name="plan-block-2"/>
          <p:cNvSpPr/>
          <p:nvPr/>
        </p:nvSpPr>
        <p:spPr>
          <a:xfrm>
            <a:off x="3810000" y="1463040"/>
            <a:ext cx="2560320" cy="1188720"/>
          </a:xfrm>
          <a:prstGeom prst="roundRect">
            <a:avLst>
              <a:gd name="adj" fmla="val 9231"/>
            </a:avLst>
          </a:prstGeom>
          <a:solidFill>
            <a:srgbClr val="E5393B"/>
          </a:solidFill>
          <a:ln w="12700">
            <a:solidFill>
              <a:srgbClr val="E5393B"/>
            </a:solidFill>
            <a:prstDash val="solid"/>
          </a:ln>
        </p:spPr>
      </p:sp>
      <p:sp>
        <p:nvSpPr>
          <p:cNvPr id="10" name="Text 8"/>
          <p:cNvSpPr txBox="1"/>
          <p:nvPr/>
        </p:nvSpPr>
        <p:spPr>
          <a:xfrm>
            <a:off x="3810000" y="1463040"/>
            <a:ext cx="2560320" cy="1188720"/>
          </a:xfrm>
          <a:prstGeom prst="rect">
            <a:avLst/>
          </a:prstGeom>
          <a:noFill/>
          <a:ln/>
        </p:spPr>
        <p:txBody>
          <a:bodyPr wrap="square" lIns="0" tIns="0" rIns="0" bIns="0" rtlCol="0" anchor="ctr"/>
          <a:lstStyle/>
          <a:p>
            <a:pPr algn="ctr" indent="0" marL="0">
              <a:buNone/>
            </a:pPr>
            <a:r>
              <a:rPr lang="en-US" sz="4000" b="1" dirty="0">
                <a:solidFill>
                  <a:srgbClr val="FFFFFF"/>
                </a:solidFill>
              </a:rPr>
              <a:t>30</a:t>
            </a:r>
            <a:endParaRPr lang="en-US" sz="4000" dirty="0"/>
          </a:p>
          <a:p>
            <a:pPr algn="ctr" indent="0" marL="0">
              <a:buNone/>
            </a:pPr>
            <a:r>
              <a:rPr lang="en-US" sz="1400" dirty="0">
                <a:solidFill>
                  <a:srgbClr val="FFFFFF"/>
                </a:solidFill>
              </a:rPr>
              <a:t>menit</a:t>
            </a:r>
            <a:endParaRPr lang="en-US" sz="4000" dirty="0"/>
          </a:p>
        </p:txBody>
      </p:sp>
      <p:sp>
        <p:nvSpPr>
          <p:cNvPr id="11" name="Text 9"/>
          <p:cNvSpPr txBox="1"/>
          <p:nvPr/>
        </p:nvSpPr>
        <p:spPr>
          <a:xfrm>
            <a:off x="3810000" y="2834640"/>
            <a:ext cx="2560320" cy="914400"/>
          </a:xfrm>
          <a:prstGeom prst="rect">
            <a:avLst/>
          </a:prstGeom>
          <a:noFill/>
          <a:ln/>
        </p:spPr>
        <p:txBody>
          <a:bodyPr wrap="square" lIns="0" tIns="0" rIns="0" bIns="0" rtlCol="0" anchor="t"/>
          <a:lstStyle/>
          <a:p>
            <a:pPr indent="0" marL="0">
              <a:buNone/>
            </a:pPr>
            <a:r>
              <a:rPr lang="en-US" sz="1400" b="1" dirty="0">
                <a:solidFill>
                  <a:schemeClr val="tx1"/>
                </a:solidFill>
              </a:rPr>
              <a:t>Live coding dashboard</a:t>
            </a:r>
            <a:endParaRPr lang="en-US" sz="1400" dirty="0"/>
          </a:p>
        </p:txBody>
      </p:sp>
      <p:sp>
        <p:nvSpPr>
          <p:cNvPr id="12" name="plan-block-3"/>
          <p:cNvSpPr/>
          <p:nvPr/>
        </p:nvSpPr>
        <p:spPr>
          <a:xfrm>
            <a:off x="6553200" y="1463040"/>
            <a:ext cx="2133600" cy="1188720"/>
          </a:xfrm>
          <a:prstGeom prst="roundRect">
            <a:avLst>
              <a:gd name="adj" fmla="val 9231"/>
            </a:avLst>
          </a:prstGeom>
          <a:solidFill>
            <a:srgbClr val="64748B"/>
          </a:solidFill>
          <a:ln w="12700">
            <a:solidFill>
              <a:srgbClr val="64748B"/>
            </a:solidFill>
            <a:prstDash val="solid"/>
          </a:ln>
        </p:spPr>
      </p:sp>
      <p:sp>
        <p:nvSpPr>
          <p:cNvPr id="13" name="Text 11"/>
          <p:cNvSpPr txBox="1"/>
          <p:nvPr/>
        </p:nvSpPr>
        <p:spPr>
          <a:xfrm>
            <a:off x="6553200" y="1463040"/>
            <a:ext cx="2133600" cy="1188720"/>
          </a:xfrm>
          <a:prstGeom prst="rect">
            <a:avLst/>
          </a:prstGeom>
          <a:noFill/>
          <a:ln/>
        </p:spPr>
        <p:txBody>
          <a:bodyPr wrap="square" lIns="0" tIns="0" rIns="0" bIns="0" rtlCol="0" anchor="ctr"/>
          <a:lstStyle/>
          <a:p>
            <a:pPr algn="ctr" indent="0" marL="0">
              <a:buNone/>
            </a:pPr>
            <a:r>
              <a:rPr lang="en-US" sz="4000" b="1" dirty="0">
                <a:solidFill>
                  <a:srgbClr val="FFFFFF"/>
                </a:solidFill>
              </a:rPr>
              <a:t>25</a:t>
            </a:r>
            <a:endParaRPr lang="en-US" sz="4000" dirty="0"/>
          </a:p>
          <a:p>
            <a:pPr algn="ctr" indent="0" marL="0">
              <a:buNone/>
            </a:pPr>
            <a:r>
              <a:rPr lang="en-US" sz="1400" dirty="0">
                <a:solidFill>
                  <a:srgbClr val="FFFFFF"/>
                </a:solidFill>
              </a:rPr>
              <a:t>menit</a:t>
            </a:r>
            <a:endParaRPr lang="en-US" sz="4000" dirty="0"/>
          </a:p>
        </p:txBody>
      </p:sp>
      <p:sp>
        <p:nvSpPr>
          <p:cNvPr id="14" name="Text 12"/>
          <p:cNvSpPr txBox="1"/>
          <p:nvPr/>
        </p:nvSpPr>
        <p:spPr>
          <a:xfrm>
            <a:off x="6553200" y="2834640"/>
            <a:ext cx="2133600" cy="914400"/>
          </a:xfrm>
          <a:prstGeom prst="rect">
            <a:avLst/>
          </a:prstGeom>
          <a:noFill/>
          <a:ln/>
        </p:spPr>
        <p:txBody>
          <a:bodyPr wrap="square" lIns="0" tIns="0" rIns="0" bIns="0" rtlCol="0" anchor="t"/>
          <a:lstStyle/>
          <a:p>
            <a:pPr indent="0" marL="0">
              <a:buNone/>
            </a:pPr>
            <a:r>
              <a:rPr lang="en-US" sz="1400" dirty="0">
                <a:solidFill>
                  <a:schemeClr val="tx1"/>
                </a:solidFill>
              </a:rPr>
              <a:t>Kuis latihan</a:t>
            </a:r>
            <a:endParaRPr lang="en-US" sz="1400" dirty="0"/>
          </a:p>
        </p:txBody>
      </p:sp>
      <p:sp>
        <p:nvSpPr>
          <p:cNvPr id="15" name="Text 13"/>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dirty="0">
                <a:solidFill>
                  <a:srgbClr val="5B6475"/>
                </a:solidFill>
              </a:rPr>
              <a:t>Hampir seluruh sesi adalah praktik langsung di laptop.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Dari Pertemuan 2 dan 3 ke Sini</a:t>
            </a:r>
            <a:endParaRPr lang="en-US" sz="3400" dirty="0"/>
          </a:p>
        </p:txBody>
      </p:sp>
      <p:sp>
        <p:nvSpPr>
          <p:cNvPr id="3" name="have-card-0"/>
          <p:cNvSpPr/>
          <p:nvPr/>
        </p:nvSpPr>
        <p:spPr>
          <a:xfrm>
            <a:off x="457200" y="1325880"/>
            <a:ext cx="3474720" cy="1325880"/>
          </a:xfrm>
          <a:prstGeom prst="roundRect">
            <a:avLst>
              <a:gd name="adj" fmla="val 8276"/>
            </a:avLst>
          </a:prstGeom>
          <a:solidFill>
            <a:srgbClr val="F3F4F6"/>
          </a:solidFill>
          <a:ln w="12700">
            <a:solidFill>
              <a:srgbClr val="F3F4F6"/>
            </a:solidFill>
            <a:prstDash val="solid"/>
          </a:ln>
        </p:spPr>
      </p:sp>
      <p:sp>
        <p:nvSpPr>
          <p:cNvPr id="4" name="Text 2"/>
          <p:cNvSpPr txBox="1"/>
          <p:nvPr/>
        </p:nvSpPr>
        <p:spPr>
          <a:xfrm>
            <a:off x="685800" y="1508760"/>
            <a:ext cx="3017520" cy="274320"/>
          </a:xfrm>
          <a:prstGeom prst="rect">
            <a:avLst/>
          </a:prstGeom>
          <a:noFill/>
          <a:ln/>
        </p:spPr>
        <p:txBody>
          <a:bodyPr wrap="square" lIns="0" tIns="0" rIns="0" bIns="0" rtlCol="0" anchor="t"/>
          <a:lstStyle/>
          <a:p>
            <a:pPr indent="0" marL="0">
              <a:buNone/>
            </a:pPr>
            <a:r>
              <a:rPr lang="en-US" sz="1400" b="1" dirty="0">
                <a:solidFill>
                  <a:srgbClr val="0B7F7A"/>
                </a:solidFill>
              </a:rPr>
              <a:t>Pertemuan 2</a:t>
            </a:r>
            <a:endParaRPr lang="en-US" sz="1400" dirty="0"/>
          </a:p>
        </p:txBody>
      </p:sp>
      <p:sp>
        <p:nvSpPr>
          <p:cNvPr id="5" name="Text 3"/>
          <p:cNvSpPr txBox="1"/>
          <p:nvPr/>
        </p:nvSpPr>
        <p:spPr>
          <a:xfrm>
            <a:off x="685800" y="1828800"/>
            <a:ext cx="3017520" cy="731520"/>
          </a:xfrm>
          <a:prstGeom prst="rect">
            <a:avLst/>
          </a:prstGeom>
          <a:noFill/>
          <a:ln/>
        </p:spPr>
        <p:txBody>
          <a:bodyPr wrap="square" lIns="0" tIns="0" rIns="0" bIns="0" rtlCol="0" anchor="t"/>
          <a:lstStyle/>
          <a:p>
            <a:pPr indent="0" marL="0">
              <a:buNone/>
            </a:pPr>
            <a:r>
              <a:rPr lang="en-US" sz="1400" dirty="0">
                <a:solidFill>
                  <a:schemeClr val="tx1"/>
                </a:solidFill>
              </a:rPr>
              <a:t>NumPy, Pandas, statistik deskriptif, histogram, dan boxplot</a:t>
            </a:r>
            <a:endParaRPr lang="en-US" sz="1400" dirty="0"/>
          </a:p>
        </p:txBody>
      </p:sp>
      <p:sp>
        <p:nvSpPr>
          <p:cNvPr id="6" name="have-card-1"/>
          <p:cNvSpPr/>
          <p:nvPr/>
        </p:nvSpPr>
        <p:spPr>
          <a:xfrm>
            <a:off x="457200" y="2834640"/>
            <a:ext cx="3474720" cy="1325880"/>
          </a:xfrm>
          <a:prstGeom prst="roundRect">
            <a:avLst>
              <a:gd name="adj" fmla="val 8276"/>
            </a:avLst>
          </a:prstGeom>
          <a:solidFill>
            <a:srgbClr val="F3F4F6"/>
          </a:solidFill>
          <a:ln w="12700">
            <a:solidFill>
              <a:srgbClr val="F3F4F6"/>
            </a:solidFill>
            <a:prstDash val="solid"/>
          </a:ln>
        </p:spPr>
      </p:sp>
      <p:sp>
        <p:nvSpPr>
          <p:cNvPr id="7" name="Text 5"/>
          <p:cNvSpPr txBox="1"/>
          <p:nvPr/>
        </p:nvSpPr>
        <p:spPr>
          <a:xfrm>
            <a:off x="685800" y="3017520"/>
            <a:ext cx="3017520" cy="274320"/>
          </a:xfrm>
          <a:prstGeom prst="rect">
            <a:avLst/>
          </a:prstGeom>
          <a:noFill/>
          <a:ln/>
        </p:spPr>
        <p:txBody>
          <a:bodyPr wrap="square" lIns="0" tIns="0" rIns="0" bIns="0" rtlCol="0" anchor="t"/>
          <a:lstStyle/>
          <a:p>
            <a:pPr indent="0" marL="0">
              <a:buNone/>
            </a:pPr>
            <a:r>
              <a:rPr lang="en-US" sz="1400" b="1" dirty="0">
                <a:solidFill>
                  <a:srgbClr val="0B7F7A"/>
                </a:solidFill>
              </a:rPr>
              <a:t>Pertemuan 3</a:t>
            </a:r>
            <a:endParaRPr lang="en-US" sz="1400" dirty="0"/>
          </a:p>
        </p:txBody>
      </p:sp>
      <p:sp>
        <p:nvSpPr>
          <p:cNvPr id="8" name="Text 6"/>
          <p:cNvSpPr txBox="1"/>
          <p:nvPr/>
        </p:nvSpPr>
        <p:spPr>
          <a:xfrm>
            <a:off x="685800" y="3337560"/>
            <a:ext cx="3017520" cy="731520"/>
          </a:xfrm>
          <a:prstGeom prst="rect">
            <a:avLst/>
          </a:prstGeom>
          <a:noFill/>
          <a:ln/>
        </p:spPr>
        <p:txBody>
          <a:bodyPr wrap="square" lIns="0" tIns="0" rIns="0" bIns="0" rtlCol="0" anchor="t"/>
          <a:lstStyle/>
          <a:p>
            <a:pPr indent="0" marL="0">
              <a:buNone/>
            </a:pPr>
            <a:r>
              <a:rPr lang="en-US" sz="1400" dirty="0">
                <a:solidFill>
                  <a:schemeClr val="tx1"/>
                </a:solidFill>
              </a:rPr>
              <a:t>5 fase analisis data, prinsip dashboard, dan pengenalan Streamlit</a:t>
            </a:r>
            <a:endParaRPr lang="en-US" sz="1400" dirty="0"/>
          </a:p>
        </p:txBody>
      </p:sp>
      <p:pic>
        <p:nvPicPr>
          <p:cNvPr id="9" name="bridge-arrow" descr="Panah">    </p:cNvPr>
          <p:cNvPicPr>
            <a:picLocks noChangeAspect="1"/>
          </p:cNvPicPr>
          <p:nvPr/>
        </p:nvPicPr>
        <p:blipFill>
          <a:blip r:embed="rId1"/>
          <a:stretch>
            <a:fillRect/>
          </a:stretch>
        </p:blipFill>
        <p:spPr>
          <a:xfrm>
            <a:off x="4160520" y="2423160"/>
            <a:ext cx="548640" cy="548640"/>
          </a:xfrm>
          <a:prstGeom prst="rect">
            <a:avLst/>
          </a:prstGeom>
        </p:spPr>
      </p:pic>
      <p:sp>
        <p:nvSpPr>
          <p:cNvPr id="10" name="now-card"/>
          <p:cNvSpPr/>
          <p:nvPr/>
        </p:nvSpPr>
        <p:spPr>
          <a:xfrm>
            <a:off x="4937760" y="1325880"/>
            <a:ext cx="3749040" cy="2834640"/>
          </a:xfrm>
          <a:prstGeom prst="roundRect">
            <a:avLst>
              <a:gd name="adj" fmla="val 3871"/>
            </a:avLst>
          </a:prstGeom>
          <a:solidFill>
            <a:srgbClr val="E5393B"/>
          </a:solidFill>
          <a:ln w="12700">
            <a:solidFill>
              <a:srgbClr val="E5393B"/>
            </a:solidFill>
            <a:prstDash val="solid"/>
          </a:ln>
          <a:effectLst>
            <a:outerShdw sx="100000" sy="100000" kx="0" ky="0" algn="bl" rotWithShape="0" blurRad="76200" dist="25400" dir="5400000">
              <a:srgbClr val="000000">
                <a:alpha val="12000"/>
              </a:srgbClr>
            </a:outerShdw>
          </a:effectLst>
        </p:spPr>
      </p:sp>
      <p:sp>
        <p:nvSpPr>
          <p:cNvPr id="11" name="now-bg"/>
          <p:cNvSpPr/>
          <p:nvPr/>
        </p:nvSpPr>
        <p:spPr>
          <a:xfrm>
            <a:off x="5212080" y="1600200"/>
            <a:ext cx="640080" cy="640080"/>
          </a:xfrm>
          <a:prstGeom prst="ellipse">
            <a:avLst/>
          </a:prstGeom>
          <a:solidFill>
            <a:srgbClr val="FFFFFF"/>
          </a:solidFill>
          <a:ln w="12700">
            <a:solidFill>
              <a:srgbClr val="FFFFFF"/>
            </a:solidFill>
            <a:prstDash val="solid"/>
          </a:ln>
        </p:spPr>
      </p:sp>
      <p:pic>
        <p:nvPicPr>
          <p:cNvPr id="12" name="now-icon" descr="FaChartBar">    </p:cNvPr>
          <p:cNvPicPr>
            <a:picLocks noChangeAspect="1"/>
          </p:cNvPicPr>
          <p:nvPr/>
        </p:nvPicPr>
        <p:blipFill>
          <a:blip r:embed="rId2"/>
          <a:stretch>
            <a:fillRect/>
          </a:stretch>
        </p:blipFill>
        <p:spPr>
          <a:xfrm>
            <a:off x="5372100" y="1760220"/>
            <a:ext cx="320040" cy="320040"/>
          </a:xfrm>
          <a:prstGeom prst="rect">
            <a:avLst/>
          </a:prstGeom>
        </p:spPr>
      </p:pic>
      <p:sp>
        <p:nvSpPr>
          <p:cNvPr id="13" name="Text 9"/>
          <p:cNvSpPr txBox="1"/>
          <p:nvPr/>
        </p:nvSpPr>
        <p:spPr>
          <a:xfrm>
            <a:off x="5212080" y="2468880"/>
            <a:ext cx="3200400" cy="411480"/>
          </a:xfrm>
          <a:prstGeom prst="rect">
            <a:avLst/>
          </a:prstGeom>
          <a:noFill/>
          <a:ln/>
        </p:spPr>
        <p:txBody>
          <a:bodyPr wrap="square" lIns="0" tIns="0" rIns="0" bIns="0" rtlCol="0" anchor="t"/>
          <a:lstStyle/>
          <a:p>
            <a:pPr indent="0" marL="0">
              <a:buNone/>
            </a:pPr>
            <a:r>
              <a:rPr lang="en-US" sz="2400" b="1" dirty="0">
                <a:solidFill>
                  <a:srgbClr val="FFFFFF"/>
                </a:solidFill>
              </a:rPr>
              <a:t>Pertemuan 4</a:t>
            </a:r>
            <a:endParaRPr lang="en-US" sz="2400" dirty="0"/>
          </a:p>
        </p:txBody>
      </p:sp>
      <p:sp>
        <p:nvSpPr>
          <p:cNvPr id="14" name="Text 10"/>
          <p:cNvSpPr txBox="1"/>
          <p:nvPr/>
        </p:nvSpPr>
        <p:spPr>
          <a:xfrm>
            <a:off x="5212080" y="3017520"/>
            <a:ext cx="3200400" cy="914400"/>
          </a:xfrm>
          <a:prstGeom prst="rect">
            <a:avLst/>
          </a:prstGeom>
          <a:noFill/>
          <a:ln/>
        </p:spPr>
        <p:txBody>
          <a:bodyPr wrap="square" lIns="0" tIns="0" rIns="0" bIns="0" rtlCol="0" anchor="t"/>
          <a:lstStyle/>
          <a:p>
            <a:pPr indent="0" marL="0">
              <a:buNone/>
            </a:pPr>
            <a:r>
              <a:rPr lang="en-US" sz="1600" dirty="0">
                <a:solidFill>
                  <a:srgbClr val="FFFFFF"/>
                </a:solidFill>
              </a:rPr>
              <a:t>Gabungkan statistik deskriptif dan Streamlit menjadi dashboard interaktif</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Cara Kerja Streamlit</a:t>
            </a:r>
            <a:endParaRPr lang="en-US" sz="3400" dirty="0"/>
          </a:p>
        </p:txBody>
      </p:sp>
      <p:sp>
        <p:nvSpPr>
          <p:cNvPr id="3" name="flow-card-0"/>
          <p:cNvSpPr/>
          <p:nvPr/>
        </p:nvSpPr>
        <p:spPr>
          <a:xfrm>
            <a:off x="457200" y="1280160"/>
            <a:ext cx="2377440" cy="1600200"/>
          </a:xfrm>
          <a:prstGeom prst="roundRect">
            <a:avLst>
              <a:gd name="adj" fmla="val 6857"/>
            </a:avLst>
          </a:prstGeom>
          <a:solidFill>
            <a:srgbClr val="F3F4F6"/>
          </a:solidFill>
          <a:ln w="12700">
            <a:solidFill>
              <a:srgbClr val="F3F4F6"/>
            </a:solidFill>
            <a:prstDash val="solid"/>
          </a:ln>
        </p:spPr>
      </p:sp>
      <p:sp>
        <p:nvSpPr>
          <p:cNvPr id="4" name="flow-0-bg"/>
          <p:cNvSpPr/>
          <p:nvPr/>
        </p:nvSpPr>
        <p:spPr>
          <a:xfrm>
            <a:off x="640080" y="1417320"/>
            <a:ext cx="457200" cy="457200"/>
          </a:xfrm>
          <a:prstGeom prst="ellipse">
            <a:avLst/>
          </a:prstGeom>
          <a:solidFill>
            <a:srgbClr val="E5393B"/>
          </a:solidFill>
          <a:ln w="12700">
            <a:solidFill>
              <a:srgbClr val="E5393B"/>
            </a:solidFill>
            <a:prstDash val="solid"/>
          </a:ln>
        </p:spPr>
      </p:sp>
      <p:pic>
        <p:nvPicPr>
          <p:cNvPr id="5" name="flow-0-icon" descr="FaMousePointer">    </p:cNvPr>
          <p:cNvPicPr>
            <a:picLocks noChangeAspect="1"/>
          </p:cNvPicPr>
          <p:nvPr/>
        </p:nvPicPr>
        <p:blipFill>
          <a:blip r:embed="rId1"/>
          <a:stretch>
            <a:fillRect/>
          </a:stretch>
        </p:blipFill>
        <p:spPr>
          <a:xfrm>
            <a:off x="754380" y="1531620"/>
            <a:ext cx="228600" cy="228600"/>
          </a:xfrm>
          <a:prstGeom prst="rect">
            <a:avLst/>
          </a:prstGeom>
        </p:spPr>
      </p:pic>
      <p:sp>
        <p:nvSpPr>
          <p:cNvPr id="6" name="Text 3"/>
          <p:cNvSpPr txBox="1"/>
          <p:nvPr/>
        </p:nvSpPr>
        <p:spPr>
          <a:xfrm>
            <a:off x="640080" y="1965960"/>
            <a:ext cx="2011680" cy="868680"/>
          </a:xfrm>
          <a:prstGeom prst="rect">
            <a:avLst/>
          </a:prstGeom>
          <a:noFill/>
          <a:ln/>
        </p:spPr>
        <p:txBody>
          <a:bodyPr wrap="square" lIns="0" tIns="0" rIns="0" bIns="0" rtlCol="0" anchor="t"/>
          <a:lstStyle/>
          <a:p>
            <a:pPr indent="0" marL="0">
              <a:buNone/>
            </a:pPr>
            <a:r>
              <a:rPr lang="en-US" sz="1400" dirty="0">
                <a:solidFill>
                  <a:schemeClr val="tx1"/>
                </a:solidFill>
              </a:rPr>
              <a:t>Pengguna berinteraksi: geser slider, klik tombol</a:t>
            </a:r>
            <a:endParaRPr lang="en-US" sz="1400" dirty="0"/>
          </a:p>
        </p:txBody>
      </p:sp>
      <p:pic>
        <p:nvPicPr>
          <p:cNvPr id="7" name="flow-arrow-0" descr="Panah">    </p:cNvPr>
          <p:cNvPicPr>
            <a:picLocks noChangeAspect="1"/>
          </p:cNvPicPr>
          <p:nvPr/>
        </p:nvPicPr>
        <p:blipFill>
          <a:blip r:embed="rId2"/>
          <a:stretch>
            <a:fillRect/>
          </a:stretch>
        </p:blipFill>
        <p:spPr>
          <a:xfrm>
            <a:off x="2971800" y="1920240"/>
            <a:ext cx="274320" cy="274320"/>
          </a:xfrm>
          <a:prstGeom prst="rect">
            <a:avLst/>
          </a:prstGeom>
        </p:spPr>
      </p:pic>
      <p:sp>
        <p:nvSpPr>
          <p:cNvPr id="8" name="flow-card-1"/>
          <p:cNvSpPr/>
          <p:nvPr/>
        </p:nvSpPr>
        <p:spPr>
          <a:xfrm>
            <a:off x="3383280" y="1280160"/>
            <a:ext cx="2377440" cy="1600200"/>
          </a:xfrm>
          <a:prstGeom prst="roundRect">
            <a:avLst>
              <a:gd name="adj" fmla="val 6857"/>
            </a:avLst>
          </a:prstGeom>
          <a:solidFill>
            <a:srgbClr val="F3F4F6"/>
          </a:solidFill>
          <a:ln w="12700">
            <a:solidFill>
              <a:srgbClr val="F3F4F6"/>
            </a:solidFill>
            <a:prstDash val="solid"/>
          </a:ln>
        </p:spPr>
      </p:sp>
      <p:sp>
        <p:nvSpPr>
          <p:cNvPr id="9" name="flow-1-bg"/>
          <p:cNvSpPr/>
          <p:nvPr/>
        </p:nvSpPr>
        <p:spPr>
          <a:xfrm>
            <a:off x="3566160" y="1417320"/>
            <a:ext cx="457200" cy="457200"/>
          </a:xfrm>
          <a:prstGeom prst="ellipse">
            <a:avLst/>
          </a:prstGeom>
          <a:solidFill>
            <a:srgbClr val="0B7F7A"/>
          </a:solidFill>
          <a:ln w="12700">
            <a:solidFill>
              <a:srgbClr val="0B7F7A"/>
            </a:solidFill>
            <a:prstDash val="solid"/>
          </a:ln>
        </p:spPr>
      </p:sp>
      <p:pic>
        <p:nvPicPr>
          <p:cNvPr id="10" name="flow-1-icon" descr="FaSyncAlt">    </p:cNvPr>
          <p:cNvPicPr>
            <a:picLocks noChangeAspect="1"/>
          </p:cNvPicPr>
          <p:nvPr/>
        </p:nvPicPr>
        <p:blipFill>
          <a:blip r:embed="rId3"/>
          <a:stretch>
            <a:fillRect/>
          </a:stretch>
        </p:blipFill>
        <p:spPr>
          <a:xfrm>
            <a:off x="3680460" y="1531620"/>
            <a:ext cx="228600" cy="228600"/>
          </a:xfrm>
          <a:prstGeom prst="rect">
            <a:avLst/>
          </a:prstGeom>
        </p:spPr>
      </p:pic>
      <p:sp>
        <p:nvSpPr>
          <p:cNvPr id="11" name="Text 6"/>
          <p:cNvSpPr txBox="1"/>
          <p:nvPr/>
        </p:nvSpPr>
        <p:spPr>
          <a:xfrm>
            <a:off x="3566160" y="1965960"/>
            <a:ext cx="2011680" cy="868680"/>
          </a:xfrm>
          <a:prstGeom prst="rect">
            <a:avLst/>
          </a:prstGeom>
          <a:noFill/>
          <a:ln/>
        </p:spPr>
        <p:txBody>
          <a:bodyPr wrap="square" lIns="0" tIns="0" rIns="0" bIns="0" rtlCol="0" anchor="t"/>
          <a:lstStyle/>
          <a:p>
            <a:pPr indent="0" marL="0">
              <a:buNone/>
            </a:pPr>
            <a:r>
              <a:rPr lang="en-US" sz="1400" dirty="0">
                <a:solidFill>
                  <a:schemeClr val="tx1"/>
                </a:solidFill>
              </a:rPr>
              <a:t>Streamlit menjalankan ulang seluruh skrip dari baris 1</a:t>
            </a:r>
            <a:endParaRPr lang="en-US" sz="1400" dirty="0"/>
          </a:p>
        </p:txBody>
      </p:sp>
      <p:pic>
        <p:nvPicPr>
          <p:cNvPr id="12" name="flow-arrow-1" descr="Panah">    </p:cNvPr>
          <p:cNvPicPr>
            <a:picLocks noChangeAspect="1"/>
          </p:cNvPicPr>
          <p:nvPr/>
        </p:nvPicPr>
        <p:blipFill>
          <a:blip r:embed="rId4"/>
          <a:stretch>
            <a:fillRect/>
          </a:stretch>
        </p:blipFill>
        <p:spPr>
          <a:xfrm>
            <a:off x="5897880" y="1920240"/>
            <a:ext cx="274320" cy="274320"/>
          </a:xfrm>
          <a:prstGeom prst="rect">
            <a:avLst/>
          </a:prstGeom>
        </p:spPr>
      </p:pic>
      <p:sp>
        <p:nvSpPr>
          <p:cNvPr id="13" name="flow-card-2"/>
          <p:cNvSpPr/>
          <p:nvPr/>
        </p:nvSpPr>
        <p:spPr>
          <a:xfrm>
            <a:off x="6309360" y="1280160"/>
            <a:ext cx="2377440" cy="1600200"/>
          </a:xfrm>
          <a:prstGeom prst="roundRect">
            <a:avLst>
              <a:gd name="adj" fmla="val 6857"/>
            </a:avLst>
          </a:prstGeom>
          <a:solidFill>
            <a:srgbClr val="F3F4F6"/>
          </a:solidFill>
          <a:ln w="12700">
            <a:solidFill>
              <a:srgbClr val="F3F4F6"/>
            </a:solidFill>
            <a:prstDash val="solid"/>
          </a:ln>
        </p:spPr>
      </p:sp>
      <p:sp>
        <p:nvSpPr>
          <p:cNvPr id="14" name="flow-2-bg"/>
          <p:cNvSpPr/>
          <p:nvPr/>
        </p:nvSpPr>
        <p:spPr>
          <a:xfrm>
            <a:off x="6492240" y="1417320"/>
            <a:ext cx="457200" cy="457200"/>
          </a:xfrm>
          <a:prstGeom prst="ellipse">
            <a:avLst/>
          </a:prstGeom>
          <a:solidFill>
            <a:srgbClr val="64748B"/>
          </a:solidFill>
          <a:ln w="12700">
            <a:solidFill>
              <a:srgbClr val="64748B"/>
            </a:solidFill>
            <a:prstDash val="solid"/>
          </a:ln>
        </p:spPr>
      </p:sp>
      <p:pic>
        <p:nvPicPr>
          <p:cNvPr id="15" name="flow-2-icon" descr="FaDesktop">    </p:cNvPr>
          <p:cNvPicPr>
            <a:picLocks noChangeAspect="1"/>
          </p:cNvPicPr>
          <p:nvPr/>
        </p:nvPicPr>
        <p:blipFill>
          <a:blip r:embed="rId5"/>
          <a:stretch>
            <a:fillRect/>
          </a:stretch>
        </p:blipFill>
        <p:spPr>
          <a:xfrm>
            <a:off x="6606540" y="1531620"/>
            <a:ext cx="228600" cy="228600"/>
          </a:xfrm>
          <a:prstGeom prst="rect">
            <a:avLst/>
          </a:prstGeom>
        </p:spPr>
      </p:pic>
      <p:sp>
        <p:nvSpPr>
          <p:cNvPr id="16" name="Text 9"/>
          <p:cNvSpPr txBox="1"/>
          <p:nvPr/>
        </p:nvSpPr>
        <p:spPr>
          <a:xfrm>
            <a:off x="6492240" y="1965960"/>
            <a:ext cx="2011680" cy="868680"/>
          </a:xfrm>
          <a:prstGeom prst="rect">
            <a:avLst/>
          </a:prstGeom>
          <a:noFill/>
          <a:ln/>
        </p:spPr>
        <p:txBody>
          <a:bodyPr wrap="square" lIns="0" tIns="0" rIns="0" bIns="0" rtlCol="0" anchor="t"/>
          <a:lstStyle/>
          <a:p>
            <a:pPr indent="0" marL="0">
              <a:buNone/>
            </a:pPr>
            <a:r>
              <a:rPr lang="en-US" sz="1400" dirty="0">
                <a:solidFill>
                  <a:schemeClr val="tx1"/>
                </a:solidFill>
              </a:rPr>
              <a:t>Browser menampilkan hasil terbaru</a:t>
            </a:r>
            <a:endParaRPr lang="en-US" sz="1400" dirty="0"/>
          </a:p>
        </p:txBody>
      </p:sp>
      <p:sp>
        <p:nvSpPr>
          <p:cNvPr id="17" name="trio-card-0"/>
          <p:cNvSpPr/>
          <p:nvPr/>
        </p:nvSpPr>
        <p:spPr>
          <a:xfrm>
            <a:off x="457200" y="310896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Text 11"/>
          <p:cNvSpPr txBox="1"/>
          <p:nvPr/>
        </p:nvSpPr>
        <p:spPr>
          <a:xfrm>
            <a:off x="640080" y="3246120"/>
            <a:ext cx="2286000" cy="320040"/>
          </a:xfrm>
          <a:prstGeom prst="rect">
            <a:avLst/>
          </a:prstGeom>
          <a:noFill/>
          <a:ln/>
        </p:spPr>
        <p:txBody>
          <a:bodyPr wrap="square" lIns="0" tIns="0" rIns="0" bIns="0" rtlCol="0" anchor="t"/>
          <a:lstStyle/>
          <a:p>
            <a:pPr indent="0" marL="0">
              <a:buNone/>
            </a:pPr>
            <a:r>
              <a:rPr lang="en-US" sz="1600" b="1" dirty="0">
                <a:solidFill>
                  <a:srgbClr val="E5393B"/>
                </a:solidFill>
              </a:rPr>
              <a:t>variabel biasa</a:t>
            </a:r>
            <a:endParaRPr lang="en-US" sz="1600" dirty="0"/>
          </a:p>
        </p:txBody>
      </p:sp>
      <p:sp>
        <p:nvSpPr>
          <p:cNvPr id="19" name="Text 12"/>
          <p:cNvSpPr txBox="1"/>
          <p:nvPr/>
        </p:nvSpPr>
        <p:spPr>
          <a:xfrm>
            <a:off x="640080" y="3657600"/>
            <a:ext cx="2286000" cy="731520"/>
          </a:xfrm>
          <a:prstGeom prst="rect">
            <a:avLst/>
          </a:prstGeom>
          <a:noFill/>
          <a:ln/>
        </p:spPr>
        <p:txBody>
          <a:bodyPr wrap="square" lIns="0" tIns="0" rIns="0" bIns="0" rtlCol="0" anchor="t"/>
          <a:lstStyle/>
          <a:p>
            <a:pPr indent="0" marL="0">
              <a:buNone/>
            </a:pPr>
            <a:r>
              <a:rPr lang="en-US" sz="1400" dirty="0">
                <a:solidFill>
                  <a:schemeClr val="tx1"/>
                </a:solidFill>
              </a:rPr>
              <a:t>Kembali ke nilai awal setiap rerun</a:t>
            </a:r>
            <a:endParaRPr lang="en-US" sz="1400" dirty="0"/>
          </a:p>
        </p:txBody>
      </p:sp>
      <p:sp>
        <p:nvSpPr>
          <p:cNvPr id="20" name="trio-card-1"/>
          <p:cNvSpPr/>
          <p:nvPr/>
        </p:nvSpPr>
        <p:spPr>
          <a:xfrm>
            <a:off x="3246120" y="310896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Text 14"/>
          <p:cNvSpPr txBox="1"/>
          <p:nvPr/>
        </p:nvSpPr>
        <p:spPr>
          <a:xfrm>
            <a:off x="3429000" y="3246120"/>
            <a:ext cx="2286000" cy="320040"/>
          </a:xfrm>
          <a:prstGeom prst="rect">
            <a:avLst/>
          </a:prstGeom>
          <a:noFill/>
          <a:ln/>
        </p:spPr>
        <p:txBody>
          <a:bodyPr wrap="square" lIns="0" tIns="0" rIns="0" bIns="0" rtlCol="0" anchor="t"/>
          <a:lstStyle/>
          <a:p>
            <a:pPr indent="0" marL="0">
              <a:buNone/>
            </a:pPr>
            <a:r>
              <a:rPr lang="en-US" sz="1600" b="1" dirty="0">
                <a:solidFill>
                  <a:srgbClr val="0B7F7A"/>
                </a:solidFill>
                <a:latin typeface="Courier New" pitchFamily="34" charset="0"/>
                <a:ea typeface="Courier New" pitchFamily="34" charset="-122"/>
                <a:cs typeface="Courier New" pitchFamily="34" charset="-120"/>
              </a:rPr>
              <a:t>st.session_state</a:t>
            </a:r>
            <a:endParaRPr lang="en-US" sz="1600" dirty="0"/>
          </a:p>
        </p:txBody>
      </p:sp>
      <p:sp>
        <p:nvSpPr>
          <p:cNvPr id="22" name="Text 15"/>
          <p:cNvSpPr txBox="1"/>
          <p:nvPr/>
        </p:nvSpPr>
        <p:spPr>
          <a:xfrm>
            <a:off x="3429000" y="3657600"/>
            <a:ext cx="2286000" cy="731520"/>
          </a:xfrm>
          <a:prstGeom prst="rect">
            <a:avLst/>
          </a:prstGeom>
          <a:noFill/>
          <a:ln/>
        </p:spPr>
        <p:txBody>
          <a:bodyPr wrap="square" lIns="0" tIns="0" rIns="0" bIns="0" rtlCol="0" anchor="t"/>
          <a:lstStyle/>
          <a:p>
            <a:pPr indent="0" marL="0">
              <a:buNone/>
            </a:pPr>
            <a:r>
              <a:rPr lang="en-US" sz="1400" dirty="0">
                <a:solidFill>
                  <a:schemeClr val="tx1"/>
                </a:solidFill>
              </a:rPr>
              <a:t>Menyimpan nilai antar-rerun</a:t>
            </a:r>
            <a:endParaRPr lang="en-US" sz="1400" dirty="0"/>
          </a:p>
        </p:txBody>
      </p:sp>
      <p:sp>
        <p:nvSpPr>
          <p:cNvPr id="23" name="trio-card-2"/>
          <p:cNvSpPr/>
          <p:nvPr/>
        </p:nvSpPr>
        <p:spPr>
          <a:xfrm>
            <a:off x="6035040" y="310896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Text 17"/>
          <p:cNvSpPr txBox="1"/>
          <p:nvPr/>
        </p:nvSpPr>
        <p:spPr>
          <a:xfrm>
            <a:off x="6217920" y="3246120"/>
            <a:ext cx="2286000" cy="320040"/>
          </a:xfrm>
          <a:prstGeom prst="rect">
            <a:avLst/>
          </a:prstGeom>
          <a:noFill/>
          <a:ln/>
        </p:spPr>
        <p:txBody>
          <a:bodyPr wrap="square" lIns="0" tIns="0" rIns="0" bIns="0" rtlCol="0" anchor="t"/>
          <a:lstStyle/>
          <a:p>
            <a:pPr indent="0" marL="0">
              <a:buNone/>
            </a:pPr>
            <a:r>
              <a:rPr lang="en-US" sz="1600" b="1" dirty="0">
                <a:solidFill>
                  <a:srgbClr val="0B7F7A"/>
                </a:solidFill>
                <a:latin typeface="Courier New" pitchFamily="34" charset="0"/>
                <a:ea typeface="Courier New" pitchFamily="34" charset="-122"/>
                <a:cs typeface="Courier New" pitchFamily="34" charset="-120"/>
              </a:rPr>
              <a:t>@st.cache_data</a:t>
            </a:r>
            <a:endParaRPr lang="en-US" sz="1600" dirty="0"/>
          </a:p>
        </p:txBody>
      </p:sp>
      <p:sp>
        <p:nvSpPr>
          <p:cNvPr id="25" name="Text 18"/>
          <p:cNvSpPr txBox="1"/>
          <p:nvPr/>
        </p:nvSpPr>
        <p:spPr>
          <a:xfrm>
            <a:off x="6217920" y="3657600"/>
            <a:ext cx="2286000" cy="731520"/>
          </a:xfrm>
          <a:prstGeom prst="rect">
            <a:avLst/>
          </a:prstGeom>
          <a:noFill/>
          <a:ln/>
        </p:spPr>
        <p:txBody>
          <a:bodyPr wrap="square" lIns="0" tIns="0" rIns="0" bIns="0" rtlCol="0" anchor="t"/>
          <a:lstStyle/>
          <a:p>
            <a:pPr indent="0" marL="0">
              <a:buNone/>
            </a:pPr>
            <a:r>
              <a:rPr lang="en-US" sz="1400" dirty="0">
                <a:solidFill>
                  <a:schemeClr val="tx1"/>
                </a:solidFill>
              </a:rPr>
              <a:t>Data berat dibaca sekali saja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Memulai dalam 3 Langkah</a:t>
            </a:r>
            <a:endParaRPr lang="en-US" sz="3400" dirty="0"/>
          </a:p>
        </p:txBody>
      </p:sp>
      <p:sp>
        <p:nvSpPr>
          <p:cNvPr id="3" name="step-card-0"/>
          <p:cNvSpPr/>
          <p:nvPr/>
        </p:nvSpPr>
        <p:spPr>
          <a:xfrm>
            <a:off x="457200" y="1280160"/>
            <a:ext cx="2651760" cy="3108960"/>
          </a:xfrm>
          <a:prstGeom prst="roundRect">
            <a:avLst>
              <a:gd name="adj" fmla="val 4138"/>
            </a:avLst>
          </a:prstGeom>
          <a:solidFill>
            <a:srgbClr val="F3F4F6"/>
          </a:solidFill>
          <a:ln w="12700">
            <a:solidFill>
              <a:srgbClr val="F3F4F6"/>
            </a:solidFill>
            <a:prstDash val="solid"/>
          </a:ln>
        </p:spPr>
      </p:sp>
      <p:sp>
        <p:nvSpPr>
          <p:cNvPr id="4" name="step-num-bg-0"/>
          <p:cNvSpPr/>
          <p:nvPr/>
        </p:nvSpPr>
        <p:spPr>
          <a:xfrm>
            <a:off x="640080" y="1463040"/>
            <a:ext cx="502920" cy="502920"/>
          </a:xfrm>
          <a:prstGeom prst="ellipse">
            <a:avLst/>
          </a:prstGeom>
          <a:solidFill>
            <a:srgbClr val="E5393B"/>
          </a:solidFill>
          <a:ln w="12700">
            <a:solidFill>
              <a:srgbClr val="E5393B"/>
            </a:solidFill>
            <a:prstDash val="solid"/>
          </a:ln>
        </p:spPr>
      </p:sp>
      <p:sp>
        <p:nvSpPr>
          <p:cNvPr id="5" name="step-num-0"/>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280160" y="1481328"/>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Install</a:t>
            </a:r>
            <a:endParaRPr lang="en-US" sz="1800" dirty="0"/>
          </a:p>
        </p:txBody>
      </p:sp>
      <p:sp>
        <p:nvSpPr>
          <p:cNvPr id="7" name="Text 5"/>
          <p:cNvSpPr txBox="1"/>
          <p:nvPr/>
        </p:nvSpPr>
        <p:spPr>
          <a:xfrm>
            <a:off x="640080" y="2148840"/>
            <a:ext cx="2286000" cy="777240"/>
          </a:xfrm>
          <a:prstGeom prst="rect">
            <a:avLst/>
          </a:prstGeom>
          <a:noFill/>
          <a:ln/>
        </p:spPr>
        <p:txBody>
          <a:bodyPr wrap="square" lIns="0" tIns="0" rIns="0" bIns="0" rtlCol="0" anchor="t"/>
          <a:lstStyle/>
          <a:p>
            <a:pPr indent="0" marL="0">
              <a:buNone/>
            </a:pPr>
            <a:r>
              <a:rPr lang="en-US" sz="1400" dirty="0">
                <a:solidFill>
                  <a:srgbClr val="5B6475"/>
                </a:solidFill>
              </a:rPr>
              <a:t>Sekali saja, lewat terminal</a:t>
            </a:r>
            <a:endParaRPr lang="en-US" sz="1400" dirty="0"/>
          </a:p>
        </p:txBody>
      </p:sp>
      <p:sp>
        <p:nvSpPr>
          <p:cNvPr id="8" name="step-code-0"/>
          <p:cNvSpPr/>
          <p:nvPr/>
        </p:nvSpPr>
        <p:spPr>
          <a:xfrm>
            <a:off x="548640" y="3108960"/>
            <a:ext cx="2468880" cy="1051560"/>
          </a:xfrm>
          <a:prstGeom prst="roundRect">
            <a:avLst>
              <a:gd name="adj" fmla="val 6957"/>
            </a:avLst>
          </a:prstGeom>
          <a:solidFill>
            <a:srgbClr val="14161F"/>
          </a:solidFill>
          <a:ln w="12700">
            <a:solidFill>
              <a:srgbClr val="14161F"/>
            </a:solidFill>
            <a:prstDash val="solid"/>
          </a:ln>
        </p:spPr>
      </p:sp>
      <p:sp>
        <p:nvSpPr>
          <p:cNvPr id="9" name="step-code-0-text"/>
          <p:cNvSpPr txBox="1"/>
          <p:nvPr/>
        </p:nvSpPr>
        <p:spPr>
          <a:xfrm>
            <a:off x="640080" y="3108960"/>
            <a:ext cx="2286000" cy="10515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pip install streamlit</a:t>
            </a:r>
            <a:endParaRPr lang="en-US" sz="1300" dirty="0"/>
          </a:p>
        </p:txBody>
      </p:sp>
      <p:sp>
        <p:nvSpPr>
          <p:cNvPr id="10" name="step-card-1"/>
          <p:cNvSpPr/>
          <p:nvPr/>
        </p:nvSpPr>
        <p:spPr>
          <a:xfrm>
            <a:off x="3246120" y="1280160"/>
            <a:ext cx="2651760" cy="3108960"/>
          </a:xfrm>
          <a:prstGeom prst="roundRect">
            <a:avLst>
              <a:gd name="adj" fmla="val 4138"/>
            </a:avLst>
          </a:prstGeom>
          <a:solidFill>
            <a:srgbClr val="F3F4F6"/>
          </a:solidFill>
          <a:ln w="12700">
            <a:solidFill>
              <a:srgbClr val="F3F4F6"/>
            </a:solidFill>
            <a:prstDash val="solid"/>
          </a:ln>
        </p:spPr>
      </p:sp>
      <p:sp>
        <p:nvSpPr>
          <p:cNvPr id="11" name="step-num-bg-1"/>
          <p:cNvSpPr/>
          <p:nvPr/>
        </p:nvSpPr>
        <p:spPr>
          <a:xfrm>
            <a:off x="3429000" y="1463040"/>
            <a:ext cx="502920" cy="502920"/>
          </a:xfrm>
          <a:prstGeom prst="ellipse">
            <a:avLst/>
          </a:prstGeom>
          <a:solidFill>
            <a:srgbClr val="E5393B"/>
          </a:solidFill>
          <a:ln w="12700">
            <a:solidFill>
              <a:srgbClr val="E5393B"/>
            </a:solidFill>
            <a:prstDash val="solid"/>
          </a:ln>
        </p:spPr>
      </p:sp>
      <p:sp>
        <p:nvSpPr>
          <p:cNvPr id="12" name="step-num-1"/>
          <p:cNvSpPr txBox="1"/>
          <p:nvPr/>
        </p:nvSpPr>
        <p:spPr>
          <a:xfrm>
            <a:off x="342900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txBox="1"/>
          <p:nvPr/>
        </p:nvSpPr>
        <p:spPr>
          <a:xfrm>
            <a:off x="4069080" y="1481328"/>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Tulis aplikasi</a:t>
            </a:r>
            <a:endParaRPr lang="en-US" sz="1800" dirty="0"/>
          </a:p>
        </p:txBody>
      </p:sp>
      <p:sp>
        <p:nvSpPr>
          <p:cNvPr id="14" name="Text 12"/>
          <p:cNvSpPr txBox="1"/>
          <p:nvPr/>
        </p:nvSpPr>
        <p:spPr>
          <a:xfrm>
            <a:off x="3429000" y="2148840"/>
            <a:ext cx="2286000" cy="777240"/>
          </a:xfrm>
          <a:prstGeom prst="rect">
            <a:avLst/>
          </a:prstGeom>
          <a:noFill/>
          <a:ln/>
        </p:spPr>
        <p:txBody>
          <a:bodyPr wrap="square" lIns="0" tIns="0" rIns="0" bIns="0" rtlCol="0" anchor="t"/>
          <a:lstStyle/>
          <a:p>
            <a:pPr indent="0" marL="0">
              <a:buNone/>
            </a:pPr>
            <a:r>
              <a:rPr lang="en-US" sz="1400" dirty="0">
                <a:solidFill>
                  <a:srgbClr val="5B6475"/>
                </a:solidFill>
              </a:rPr>
              <a:t>Simpan sebagai app.py</a:t>
            </a:r>
            <a:endParaRPr lang="en-US" sz="1400" dirty="0"/>
          </a:p>
        </p:txBody>
      </p:sp>
      <p:sp>
        <p:nvSpPr>
          <p:cNvPr id="15" name="step-code-1"/>
          <p:cNvSpPr/>
          <p:nvPr/>
        </p:nvSpPr>
        <p:spPr>
          <a:xfrm>
            <a:off x="3337560" y="3108960"/>
            <a:ext cx="2468880" cy="1051560"/>
          </a:xfrm>
          <a:prstGeom prst="roundRect">
            <a:avLst>
              <a:gd name="adj" fmla="val 6957"/>
            </a:avLst>
          </a:prstGeom>
          <a:solidFill>
            <a:srgbClr val="14161F"/>
          </a:solidFill>
          <a:ln w="12700">
            <a:solidFill>
              <a:srgbClr val="14161F"/>
            </a:solidFill>
            <a:prstDash val="solid"/>
          </a:ln>
        </p:spPr>
      </p:sp>
      <p:sp>
        <p:nvSpPr>
          <p:cNvPr id="16" name="step-code-1-text"/>
          <p:cNvSpPr txBox="1"/>
          <p:nvPr/>
        </p:nvSpPr>
        <p:spPr>
          <a:xfrm>
            <a:off x="3429000" y="3108960"/>
            <a:ext cx="2286000" cy="10515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import streamlit as st</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st.title("Halo!")</a:t>
            </a:r>
            <a:endParaRPr lang="en-US" sz="1300" dirty="0"/>
          </a:p>
        </p:txBody>
      </p:sp>
      <p:sp>
        <p:nvSpPr>
          <p:cNvPr id="17" name="step-card-2"/>
          <p:cNvSpPr/>
          <p:nvPr/>
        </p:nvSpPr>
        <p:spPr>
          <a:xfrm>
            <a:off x="6035040" y="1280160"/>
            <a:ext cx="2651760" cy="3108960"/>
          </a:xfrm>
          <a:prstGeom prst="roundRect">
            <a:avLst>
              <a:gd name="adj" fmla="val 4138"/>
            </a:avLst>
          </a:prstGeom>
          <a:solidFill>
            <a:srgbClr val="F3F4F6"/>
          </a:solidFill>
          <a:ln w="12700">
            <a:solidFill>
              <a:srgbClr val="F3F4F6"/>
            </a:solidFill>
            <a:prstDash val="solid"/>
          </a:ln>
        </p:spPr>
      </p:sp>
      <p:sp>
        <p:nvSpPr>
          <p:cNvPr id="18" name="step-num-bg-2"/>
          <p:cNvSpPr/>
          <p:nvPr/>
        </p:nvSpPr>
        <p:spPr>
          <a:xfrm>
            <a:off x="6217920" y="1463040"/>
            <a:ext cx="502920" cy="502920"/>
          </a:xfrm>
          <a:prstGeom prst="ellipse">
            <a:avLst/>
          </a:prstGeom>
          <a:solidFill>
            <a:srgbClr val="E5393B"/>
          </a:solidFill>
          <a:ln w="12700">
            <a:solidFill>
              <a:srgbClr val="E5393B"/>
            </a:solidFill>
            <a:prstDash val="solid"/>
          </a:ln>
        </p:spPr>
      </p:sp>
      <p:sp>
        <p:nvSpPr>
          <p:cNvPr id="19" name="step-num-2"/>
          <p:cNvSpPr txBox="1"/>
          <p:nvPr/>
        </p:nvSpPr>
        <p:spPr>
          <a:xfrm>
            <a:off x="621792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0" name="Text 18"/>
          <p:cNvSpPr txBox="1"/>
          <p:nvPr/>
        </p:nvSpPr>
        <p:spPr>
          <a:xfrm>
            <a:off x="6858000" y="1481328"/>
            <a:ext cx="1737360" cy="457200"/>
          </a:xfrm>
          <a:prstGeom prst="rect">
            <a:avLst/>
          </a:prstGeom>
          <a:noFill/>
          <a:ln/>
        </p:spPr>
        <p:txBody>
          <a:bodyPr wrap="square" lIns="0" tIns="0" rIns="0" bIns="0" rtlCol="0" anchor="ctr"/>
          <a:lstStyle/>
          <a:p>
            <a:pPr indent="0" marL="0">
              <a:buNone/>
            </a:pPr>
            <a:r>
              <a:rPr lang="en-US" sz="1800" b="1" dirty="0">
                <a:solidFill>
                  <a:schemeClr val="tx1"/>
                </a:solidFill>
              </a:rPr>
              <a:t>Jalankan</a:t>
            </a:r>
            <a:endParaRPr lang="en-US" sz="1800" dirty="0"/>
          </a:p>
        </p:txBody>
      </p:sp>
      <p:sp>
        <p:nvSpPr>
          <p:cNvPr id="21" name="Text 19"/>
          <p:cNvSpPr txBox="1"/>
          <p:nvPr/>
        </p:nvSpPr>
        <p:spPr>
          <a:xfrm>
            <a:off x="6217920" y="2148840"/>
            <a:ext cx="2286000" cy="777240"/>
          </a:xfrm>
          <a:prstGeom prst="rect">
            <a:avLst/>
          </a:prstGeom>
          <a:noFill/>
          <a:ln/>
        </p:spPr>
        <p:txBody>
          <a:bodyPr wrap="square" lIns="0" tIns="0" rIns="0" bIns="0" rtlCol="0" anchor="t"/>
          <a:lstStyle/>
          <a:p>
            <a:pPr indent="0" marL="0">
              <a:buNone/>
            </a:pPr>
            <a:r>
              <a:rPr lang="en-US" sz="1400" dirty="0">
                <a:solidFill>
                  <a:srgbClr val="5B6475"/>
                </a:solidFill>
              </a:rPr>
              <a:t>Buka localhost:8501. Berhenti dengan Ctrl+C</a:t>
            </a:r>
            <a:endParaRPr lang="en-US" sz="1400" dirty="0"/>
          </a:p>
        </p:txBody>
      </p:sp>
      <p:sp>
        <p:nvSpPr>
          <p:cNvPr id="22" name="step-code-2"/>
          <p:cNvSpPr/>
          <p:nvPr/>
        </p:nvSpPr>
        <p:spPr>
          <a:xfrm>
            <a:off x="6126480" y="3108960"/>
            <a:ext cx="2468880" cy="1051560"/>
          </a:xfrm>
          <a:prstGeom prst="roundRect">
            <a:avLst>
              <a:gd name="adj" fmla="val 6957"/>
            </a:avLst>
          </a:prstGeom>
          <a:solidFill>
            <a:srgbClr val="14161F"/>
          </a:solidFill>
          <a:ln w="12700">
            <a:solidFill>
              <a:srgbClr val="14161F"/>
            </a:solidFill>
            <a:prstDash val="solid"/>
          </a:ln>
        </p:spPr>
      </p:sp>
      <p:sp>
        <p:nvSpPr>
          <p:cNvPr id="23" name="step-code-2-text"/>
          <p:cNvSpPr txBox="1"/>
          <p:nvPr/>
        </p:nvSpPr>
        <p:spPr>
          <a:xfrm>
            <a:off x="6217920" y="3108960"/>
            <a:ext cx="2286000" cy="10515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streamlit run app.py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Elemen dan Widget</a:t>
            </a:r>
            <a:endParaRPr lang="en-US" sz="3400" dirty="0"/>
          </a:p>
        </p:txBody>
      </p:sp>
      <p:sp>
        <p:nvSpPr>
          <p:cNvPr id="3" name="grid-card-0"/>
          <p:cNvSpPr/>
          <p:nvPr/>
        </p:nvSpPr>
        <p:spPr>
          <a:xfrm>
            <a:off x="457200" y="1280160"/>
            <a:ext cx="4023360" cy="1417320"/>
          </a:xfrm>
          <a:prstGeom prst="roundRect">
            <a:avLst>
              <a:gd name="adj" fmla="val 7742"/>
            </a:avLst>
          </a:prstGeom>
          <a:solidFill>
            <a:srgbClr val="F3F4F6"/>
          </a:solidFill>
          <a:ln w="12700">
            <a:solidFill>
              <a:srgbClr val="F3F4F6"/>
            </a:solidFill>
            <a:prstDash val="solid"/>
          </a:ln>
        </p:spPr>
      </p:sp>
      <p:sp>
        <p:nvSpPr>
          <p:cNvPr id="4" name="grid-0-bg"/>
          <p:cNvSpPr/>
          <p:nvPr/>
        </p:nvSpPr>
        <p:spPr>
          <a:xfrm>
            <a:off x="685800" y="1554480"/>
            <a:ext cx="640080" cy="640080"/>
          </a:xfrm>
          <a:prstGeom prst="ellipse">
            <a:avLst/>
          </a:prstGeom>
          <a:solidFill>
            <a:srgbClr val="E5393B"/>
          </a:solidFill>
          <a:ln w="12700">
            <a:solidFill>
              <a:srgbClr val="E5393B"/>
            </a:solidFill>
            <a:prstDash val="solid"/>
          </a:ln>
        </p:spPr>
      </p:sp>
      <p:pic>
        <p:nvPicPr>
          <p:cNvPr id="5" name="grid-0-icon" descr="FaFont">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1508760" y="14630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Teks</a:t>
            </a:r>
            <a:endParaRPr lang="en-US" sz="1800" dirty="0"/>
          </a:p>
        </p:txBody>
      </p:sp>
      <p:sp>
        <p:nvSpPr>
          <p:cNvPr id="7" name="Text 4"/>
          <p:cNvSpPr txBox="1"/>
          <p:nvPr/>
        </p:nvSpPr>
        <p:spPr>
          <a:xfrm>
            <a:off x="1508760" y="187452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title, header, markdown, latex</a:t>
            </a:r>
            <a:endParaRPr lang="en-US" sz="1400" dirty="0"/>
          </a:p>
        </p:txBody>
      </p:sp>
      <p:sp>
        <p:nvSpPr>
          <p:cNvPr id="8" name="grid-card-1"/>
          <p:cNvSpPr/>
          <p:nvPr/>
        </p:nvSpPr>
        <p:spPr>
          <a:xfrm>
            <a:off x="4663440" y="1280160"/>
            <a:ext cx="4023360" cy="1417320"/>
          </a:xfrm>
          <a:prstGeom prst="roundRect">
            <a:avLst>
              <a:gd name="adj" fmla="val 7742"/>
            </a:avLst>
          </a:prstGeom>
          <a:solidFill>
            <a:srgbClr val="F3F4F6"/>
          </a:solidFill>
          <a:ln w="12700">
            <a:solidFill>
              <a:srgbClr val="F3F4F6"/>
            </a:solidFill>
            <a:prstDash val="solid"/>
          </a:ln>
        </p:spPr>
      </p:sp>
      <p:sp>
        <p:nvSpPr>
          <p:cNvPr id="9" name="grid-1-bg"/>
          <p:cNvSpPr/>
          <p:nvPr/>
        </p:nvSpPr>
        <p:spPr>
          <a:xfrm>
            <a:off x="4892040" y="1554480"/>
            <a:ext cx="640080" cy="640080"/>
          </a:xfrm>
          <a:prstGeom prst="ellipse">
            <a:avLst/>
          </a:prstGeom>
          <a:solidFill>
            <a:srgbClr val="0B7F7A"/>
          </a:solidFill>
          <a:ln w="12700">
            <a:solidFill>
              <a:srgbClr val="0B7F7A"/>
            </a:solidFill>
            <a:prstDash val="solid"/>
          </a:ln>
        </p:spPr>
      </p:sp>
      <p:pic>
        <p:nvPicPr>
          <p:cNvPr id="10" name="grid-1-icon" descr="FaTable">    </p:cNvPr>
          <p:cNvPicPr>
            <a:picLocks noChangeAspect="1"/>
          </p:cNvPicPr>
          <p:nvPr/>
        </p:nvPicPr>
        <p:blipFill>
          <a:blip r:embed="rId2"/>
          <a:stretch>
            <a:fillRect/>
          </a:stretch>
        </p:blipFill>
        <p:spPr>
          <a:xfrm>
            <a:off x="5052060" y="1714500"/>
            <a:ext cx="320040" cy="320040"/>
          </a:xfrm>
          <a:prstGeom prst="rect">
            <a:avLst/>
          </a:prstGeom>
        </p:spPr>
      </p:pic>
      <p:sp>
        <p:nvSpPr>
          <p:cNvPr id="11" name="Text 7"/>
          <p:cNvSpPr txBox="1"/>
          <p:nvPr/>
        </p:nvSpPr>
        <p:spPr>
          <a:xfrm>
            <a:off x="5715000" y="14630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Data</a:t>
            </a:r>
            <a:endParaRPr lang="en-US" sz="1800" dirty="0"/>
          </a:p>
        </p:txBody>
      </p:sp>
      <p:sp>
        <p:nvSpPr>
          <p:cNvPr id="12" name="Text 8"/>
          <p:cNvSpPr txBox="1"/>
          <p:nvPr/>
        </p:nvSpPr>
        <p:spPr>
          <a:xfrm>
            <a:off x="5715000" y="187452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dataframe, table, metric</a:t>
            </a:r>
            <a:endParaRPr lang="en-US" sz="1400" dirty="0"/>
          </a:p>
        </p:txBody>
      </p:sp>
      <p:sp>
        <p:nvSpPr>
          <p:cNvPr id="13" name="grid-card-2"/>
          <p:cNvSpPr/>
          <p:nvPr/>
        </p:nvSpPr>
        <p:spPr>
          <a:xfrm>
            <a:off x="457200" y="2880360"/>
            <a:ext cx="4023360" cy="1417320"/>
          </a:xfrm>
          <a:prstGeom prst="roundRect">
            <a:avLst>
              <a:gd name="adj" fmla="val 7742"/>
            </a:avLst>
          </a:prstGeom>
          <a:solidFill>
            <a:srgbClr val="F3F4F6"/>
          </a:solidFill>
          <a:ln w="12700">
            <a:solidFill>
              <a:srgbClr val="F3F4F6"/>
            </a:solidFill>
            <a:prstDash val="solid"/>
          </a:ln>
        </p:spPr>
      </p:sp>
      <p:sp>
        <p:nvSpPr>
          <p:cNvPr id="14" name="grid-2-bg"/>
          <p:cNvSpPr/>
          <p:nvPr/>
        </p:nvSpPr>
        <p:spPr>
          <a:xfrm>
            <a:off x="685800" y="3154680"/>
            <a:ext cx="640080" cy="640080"/>
          </a:xfrm>
          <a:prstGeom prst="ellipse">
            <a:avLst/>
          </a:prstGeom>
          <a:solidFill>
            <a:srgbClr val="64748B"/>
          </a:solidFill>
          <a:ln w="12700">
            <a:solidFill>
              <a:srgbClr val="64748B"/>
            </a:solidFill>
            <a:prstDash val="solid"/>
          </a:ln>
        </p:spPr>
      </p:sp>
      <p:pic>
        <p:nvPicPr>
          <p:cNvPr id="15" name="grid-2-icon" descr="FaChartLine">    </p:cNvPr>
          <p:cNvPicPr>
            <a:picLocks noChangeAspect="1"/>
          </p:cNvPicPr>
          <p:nvPr/>
        </p:nvPicPr>
        <p:blipFill>
          <a:blip r:embed="rId3"/>
          <a:stretch>
            <a:fillRect/>
          </a:stretch>
        </p:blipFill>
        <p:spPr>
          <a:xfrm>
            <a:off x="845820" y="3314700"/>
            <a:ext cx="320040" cy="320040"/>
          </a:xfrm>
          <a:prstGeom prst="rect">
            <a:avLst/>
          </a:prstGeom>
        </p:spPr>
      </p:pic>
      <p:sp>
        <p:nvSpPr>
          <p:cNvPr id="16" name="Text 11"/>
          <p:cNvSpPr txBox="1"/>
          <p:nvPr/>
        </p:nvSpPr>
        <p:spPr>
          <a:xfrm>
            <a:off x="1508760" y="30632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Grafik</a:t>
            </a:r>
            <a:endParaRPr lang="en-US" sz="1800" dirty="0"/>
          </a:p>
        </p:txBody>
      </p:sp>
      <p:sp>
        <p:nvSpPr>
          <p:cNvPr id="17" name="Text 12"/>
          <p:cNvSpPr txBox="1"/>
          <p:nvPr/>
        </p:nvSpPr>
        <p:spPr>
          <a:xfrm>
            <a:off x="1508760" y="347472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pyplot, line_chart, bar_chart</a:t>
            </a:r>
            <a:endParaRPr lang="en-US" sz="1400" dirty="0"/>
          </a:p>
        </p:txBody>
      </p:sp>
      <p:sp>
        <p:nvSpPr>
          <p:cNvPr id="18" name="grid-card-3"/>
          <p:cNvSpPr/>
          <p:nvPr/>
        </p:nvSpPr>
        <p:spPr>
          <a:xfrm>
            <a:off x="4663440" y="2880360"/>
            <a:ext cx="4023360" cy="1417320"/>
          </a:xfrm>
          <a:prstGeom prst="roundRect">
            <a:avLst>
              <a:gd name="adj" fmla="val 7742"/>
            </a:avLst>
          </a:prstGeom>
          <a:solidFill>
            <a:srgbClr val="F3F4F6"/>
          </a:solidFill>
          <a:ln w="12700">
            <a:solidFill>
              <a:srgbClr val="F3F4F6"/>
            </a:solidFill>
            <a:prstDash val="solid"/>
          </a:ln>
        </p:spPr>
      </p:sp>
      <p:sp>
        <p:nvSpPr>
          <p:cNvPr id="19" name="grid-3-bg"/>
          <p:cNvSpPr/>
          <p:nvPr/>
        </p:nvSpPr>
        <p:spPr>
          <a:xfrm>
            <a:off x="4892040" y="3154680"/>
            <a:ext cx="640080" cy="640080"/>
          </a:xfrm>
          <a:prstGeom prst="ellipse">
            <a:avLst/>
          </a:prstGeom>
          <a:solidFill>
            <a:srgbClr val="F5A524"/>
          </a:solidFill>
          <a:ln w="12700">
            <a:solidFill>
              <a:srgbClr val="F5A524"/>
            </a:solidFill>
            <a:prstDash val="solid"/>
          </a:ln>
        </p:spPr>
      </p:sp>
      <p:pic>
        <p:nvPicPr>
          <p:cNvPr id="20" name="grid-3-icon" descr="FaSlidersH">    </p:cNvPr>
          <p:cNvPicPr>
            <a:picLocks noChangeAspect="1"/>
          </p:cNvPicPr>
          <p:nvPr/>
        </p:nvPicPr>
        <p:blipFill>
          <a:blip r:embed="rId4"/>
          <a:stretch>
            <a:fillRect/>
          </a:stretch>
        </p:blipFill>
        <p:spPr>
          <a:xfrm>
            <a:off x="5052060" y="3314700"/>
            <a:ext cx="320040" cy="320040"/>
          </a:xfrm>
          <a:prstGeom prst="rect">
            <a:avLst/>
          </a:prstGeom>
        </p:spPr>
      </p:pic>
      <p:sp>
        <p:nvSpPr>
          <p:cNvPr id="21" name="Text 15"/>
          <p:cNvSpPr txBox="1"/>
          <p:nvPr/>
        </p:nvSpPr>
        <p:spPr>
          <a:xfrm>
            <a:off x="5715000" y="3063240"/>
            <a:ext cx="2743200" cy="365760"/>
          </a:xfrm>
          <a:prstGeom prst="rect">
            <a:avLst/>
          </a:prstGeom>
          <a:noFill/>
          <a:ln/>
        </p:spPr>
        <p:txBody>
          <a:bodyPr wrap="square" lIns="0" tIns="0" rIns="0" bIns="0" rtlCol="0" anchor="t"/>
          <a:lstStyle/>
          <a:p>
            <a:pPr indent="0" marL="0">
              <a:buNone/>
            </a:pPr>
            <a:r>
              <a:rPr lang="en-US" sz="1800" b="1" dirty="0">
                <a:solidFill>
                  <a:schemeClr val="tx1"/>
                </a:solidFill>
              </a:rPr>
              <a:t>Widget input</a:t>
            </a:r>
            <a:endParaRPr lang="en-US" sz="1800" dirty="0"/>
          </a:p>
        </p:txBody>
      </p:sp>
      <p:sp>
        <p:nvSpPr>
          <p:cNvPr id="22" name="Text 16"/>
          <p:cNvSpPr txBox="1"/>
          <p:nvPr/>
        </p:nvSpPr>
        <p:spPr>
          <a:xfrm>
            <a:off x="5715000" y="3474720"/>
            <a:ext cx="2834640" cy="73152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slider, selectbox, multiselect, button, file_uploader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Layout: Sidebar, Kolom, Tab</a:t>
            </a:r>
            <a:endParaRPr lang="en-US" sz="3400" dirty="0"/>
          </a:p>
        </p:txBody>
      </p:sp>
      <p:sp>
        <p:nvSpPr>
          <p:cNvPr id="3" name="lay-0-bg"/>
          <p:cNvSpPr/>
          <p:nvPr/>
        </p:nvSpPr>
        <p:spPr>
          <a:xfrm>
            <a:off x="457200" y="1417320"/>
            <a:ext cx="594360" cy="594360"/>
          </a:xfrm>
          <a:prstGeom prst="ellipse">
            <a:avLst/>
          </a:prstGeom>
          <a:solidFill>
            <a:srgbClr val="E5393B"/>
          </a:solidFill>
          <a:ln w="12700">
            <a:solidFill>
              <a:srgbClr val="E5393B"/>
            </a:solidFill>
            <a:prstDash val="solid"/>
          </a:ln>
        </p:spPr>
      </p:sp>
      <p:pic>
        <p:nvPicPr>
          <p:cNvPr id="4" name="lay-0-icon" descr="FaBars">    </p:cNvPr>
          <p:cNvPicPr>
            <a:picLocks noChangeAspect="1"/>
          </p:cNvPicPr>
          <p:nvPr/>
        </p:nvPicPr>
        <p:blipFill>
          <a:blip r:embed="rId1"/>
          <a:stretch>
            <a:fillRect/>
          </a:stretch>
        </p:blipFill>
        <p:spPr>
          <a:xfrm>
            <a:off x="605790" y="1565910"/>
            <a:ext cx="297180" cy="297180"/>
          </a:xfrm>
          <a:prstGeom prst="rect">
            <a:avLst/>
          </a:prstGeom>
        </p:spPr>
      </p:pic>
      <p:sp>
        <p:nvSpPr>
          <p:cNvPr id="5" name="Text 2"/>
          <p:cNvSpPr txBox="1"/>
          <p:nvPr/>
        </p:nvSpPr>
        <p:spPr>
          <a:xfrm>
            <a:off x="1234440" y="1371600"/>
            <a:ext cx="2103120" cy="365760"/>
          </a:xfrm>
          <a:prstGeom prst="rect">
            <a:avLst/>
          </a:prstGeom>
          <a:noFill/>
          <a:ln/>
        </p:spPr>
        <p:txBody>
          <a:bodyPr wrap="square" lIns="0" tIns="0" rIns="0" bIns="0" rtlCol="0" anchor="t"/>
          <a:lstStyle/>
          <a:p>
            <a:pPr indent="0" marL="0">
              <a:buNone/>
            </a:pPr>
            <a:r>
              <a:rPr lang="en-US" sz="1800" b="1" dirty="0">
                <a:solidFill>
                  <a:schemeClr val="tx1"/>
                </a:solidFill>
              </a:rPr>
              <a:t>Sidebar</a:t>
            </a:r>
            <a:endParaRPr lang="en-US" sz="1800" dirty="0"/>
          </a:p>
        </p:txBody>
      </p:sp>
      <p:sp>
        <p:nvSpPr>
          <p:cNvPr id="6" name="Text 3"/>
          <p:cNvSpPr txBox="1"/>
          <p:nvPr/>
        </p:nvSpPr>
        <p:spPr>
          <a:xfrm>
            <a:off x="1234440" y="1737360"/>
            <a:ext cx="2103120" cy="548640"/>
          </a:xfrm>
          <a:prstGeom prst="rect">
            <a:avLst/>
          </a:prstGeom>
          <a:noFill/>
          <a:ln/>
        </p:spPr>
        <p:txBody>
          <a:bodyPr wrap="square" lIns="0" tIns="0" rIns="0" bIns="0" rtlCol="0" anchor="t"/>
          <a:lstStyle/>
          <a:p>
            <a:pPr indent="0" marL="0">
              <a:buNone/>
            </a:pPr>
            <a:r>
              <a:rPr lang="en-US" sz="1400" dirty="0">
                <a:solidFill>
                  <a:srgbClr val="5B6475"/>
                </a:solidFill>
              </a:rPr>
              <a:t>Panel samping untuk filter</a:t>
            </a:r>
            <a:endParaRPr lang="en-US" sz="1400" dirty="0"/>
          </a:p>
        </p:txBody>
      </p:sp>
      <p:sp>
        <p:nvSpPr>
          <p:cNvPr id="7" name="lay-code-0"/>
          <p:cNvSpPr/>
          <p:nvPr/>
        </p:nvSpPr>
        <p:spPr>
          <a:xfrm>
            <a:off x="3474720" y="1280160"/>
            <a:ext cx="5212080" cy="914400"/>
          </a:xfrm>
          <a:prstGeom prst="roundRect">
            <a:avLst>
              <a:gd name="adj" fmla="val 8000"/>
            </a:avLst>
          </a:prstGeom>
          <a:solidFill>
            <a:srgbClr val="14161F"/>
          </a:solidFill>
          <a:ln w="12700">
            <a:solidFill>
              <a:srgbClr val="14161F"/>
            </a:solidFill>
            <a:prstDash val="solid"/>
          </a:ln>
        </p:spPr>
      </p:sp>
      <p:sp>
        <p:nvSpPr>
          <p:cNvPr id="8" name="lay-code-0-text"/>
          <p:cNvSpPr txBox="1"/>
          <p:nvPr/>
        </p:nvSpPr>
        <p:spPr>
          <a:xfrm>
            <a:off x="3611880" y="1280160"/>
            <a:ext cx="4937760" cy="91440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st.sidebar.selectbox("Kolom", daftar)</a:t>
            </a:r>
            <a:endParaRPr lang="en-US" sz="1400" dirty="0"/>
          </a:p>
        </p:txBody>
      </p:sp>
      <p:sp>
        <p:nvSpPr>
          <p:cNvPr id="9" name="lay-1-bg"/>
          <p:cNvSpPr/>
          <p:nvPr/>
        </p:nvSpPr>
        <p:spPr>
          <a:xfrm>
            <a:off x="457200" y="2514600"/>
            <a:ext cx="594360" cy="594360"/>
          </a:xfrm>
          <a:prstGeom prst="ellipse">
            <a:avLst/>
          </a:prstGeom>
          <a:solidFill>
            <a:srgbClr val="0B7F7A"/>
          </a:solidFill>
          <a:ln w="12700">
            <a:solidFill>
              <a:srgbClr val="0B7F7A"/>
            </a:solidFill>
            <a:prstDash val="solid"/>
          </a:ln>
        </p:spPr>
      </p:sp>
      <p:pic>
        <p:nvPicPr>
          <p:cNvPr id="10" name="lay-1-icon" descr="FaColumns">    </p:cNvPr>
          <p:cNvPicPr>
            <a:picLocks noChangeAspect="1"/>
          </p:cNvPicPr>
          <p:nvPr/>
        </p:nvPicPr>
        <p:blipFill>
          <a:blip r:embed="rId2"/>
          <a:stretch>
            <a:fillRect/>
          </a:stretch>
        </p:blipFill>
        <p:spPr>
          <a:xfrm>
            <a:off x="605790" y="2663190"/>
            <a:ext cx="297180" cy="297180"/>
          </a:xfrm>
          <a:prstGeom prst="rect">
            <a:avLst/>
          </a:prstGeom>
        </p:spPr>
      </p:pic>
      <p:sp>
        <p:nvSpPr>
          <p:cNvPr id="11" name="Text 7"/>
          <p:cNvSpPr txBox="1"/>
          <p:nvPr/>
        </p:nvSpPr>
        <p:spPr>
          <a:xfrm>
            <a:off x="1234440" y="24688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Kolom</a:t>
            </a:r>
            <a:endParaRPr lang="en-US" sz="1800" dirty="0"/>
          </a:p>
        </p:txBody>
      </p:sp>
      <p:sp>
        <p:nvSpPr>
          <p:cNvPr id="12" name="Text 8"/>
          <p:cNvSpPr txBox="1"/>
          <p:nvPr/>
        </p:nvSpPr>
        <p:spPr>
          <a:xfrm>
            <a:off x="1234440" y="2834640"/>
            <a:ext cx="2103120" cy="548640"/>
          </a:xfrm>
          <a:prstGeom prst="rect">
            <a:avLst/>
          </a:prstGeom>
          <a:noFill/>
          <a:ln/>
        </p:spPr>
        <p:txBody>
          <a:bodyPr wrap="square" lIns="0" tIns="0" rIns="0" bIns="0" rtlCol="0" anchor="t"/>
          <a:lstStyle/>
          <a:p>
            <a:pPr indent="0" marL="0">
              <a:buNone/>
            </a:pPr>
            <a:r>
              <a:rPr lang="en-US" sz="1400" dirty="0">
                <a:solidFill>
                  <a:srgbClr val="5B6475"/>
                </a:solidFill>
              </a:rPr>
              <a:t>Metrik berdampingan</a:t>
            </a:r>
            <a:endParaRPr lang="en-US" sz="1400" dirty="0"/>
          </a:p>
        </p:txBody>
      </p:sp>
      <p:sp>
        <p:nvSpPr>
          <p:cNvPr id="13" name="lay-code-1"/>
          <p:cNvSpPr/>
          <p:nvPr/>
        </p:nvSpPr>
        <p:spPr>
          <a:xfrm>
            <a:off x="3474720" y="2377440"/>
            <a:ext cx="5212080" cy="914400"/>
          </a:xfrm>
          <a:prstGeom prst="roundRect">
            <a:avLst>
              <a:gd name="adj" fmla="val 8000"/>
            </a:avLst>
          </a:prstGeom>
          <a:solidFill>
            <a:srgbClr val="14161F"/>
          </a:solidFill>
          <a:ln w="12700">
            <a:solidFill>
              <a:srgbClr val="14161F"/>
            </a:solidFill>
            <a:prstDash val="solid"/>
          </a:ln>
        </p:spPr>
      </p:sp>
      <p:sp>
        <p:nvSpPr>
          <p:cNvPr id="14" name="lay-code-1-text"/>
          <p:cNvSpPr txBox="1"/>
          <p:nvPr/>
        </p:nvSpPr>
        <p:spPr>
          <a:xfrm>
            <a:off x="3611880" y="2377440"/>
            <a:ext cx="4937760" cy="91440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a, b = st.columns(2)</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a.metric("Mean", 68.3)</a:t>
            </a:r>
            <a:endParaRPr lang="en-US" sz="1400" dirty="0"/>
          </a:p>
        </p:txBody>
      </p:sp>
      <p:sp>
        <p:nvSpPr>
          <p:cNvPr id="15" name="lay-2-bg"/>
          <p:cNvSpPr/>
          <p:nvPr/>
        </p:nvSpPr>
        <p:spPr>
          <a:xfrm>
            <a:off x="457200" y="3611880"/>
            <a:ext cx="594360" cy="594360"/>
          </a:xfrm>
          <a:prstGeom prst="ellipse">
            <a:avLst/>
          </a:prstGeom>
          <a:solidFill>
            <a:srgbClr val="64748B"/>
          </a:solidFill>
          <a:ln w="12700">
            <a:solidFill>
              <a:srgbClr val="64748B"/>
            </a:solidFill>
            <a:prstDash val="solid"/>
          </a:ln>
        </p:spPr>
      </p:sp>
      <p:pic>
        <p:nvPicPr>
          <p:cNvPr id="16" name="lay-2-icon" descr="FaFolderOpen">    </p:cNvPr>
          <p:cNvPicPr>
            <a:picLocks noChangeAspect="1"/>
          </p:cNvPicPr>
          <p:nvPr/>
        </p:nvPicPr>
        <p:blipFill>
          <a:blip r:embed="rId3"/>
          <a:stretch>
            <a:fillRect/>
          </a:stretch>
        </p:blipFill>
        <p:spPr>
          <a:xfrm>
            <a:off x="605790" y="3760470"/>
            <a:ext cx="297180" cy="297180"/>
          </a:xfrm>
          <a:prstGeom prst="rect">
            <a:avLst/>
          </a:prstGeom>
        </p:spPr>
      </p:pic>
      <p:sp>
        <p:nvSpPr>
          <p:cNvPr id="17" name="Text 12"/>
          <p:cNvSpPr txBox="1"/>
          <p:nvPr/>
        </p:nvSpPr>
        <p:spPr>
          <a:xfrm>
            <a:off x="1234440" y="3566160"/>
            <a:ext cx="2103120" cy="365760"/>
          </a:xfrm>
          <a:prstGeom prst="rect">
            <a:avLst/>
          </a:prstGeom>
          <a:noFill/>
          <a:ln/>
        </p:spPr>
        <p:txBody>
          <a:bodyPr wrap="square" lIns="0" tIns="0" rIns="0" bIns="0" rtlCol="0" anchor="t"/>
          <a:lstStyle/>
          <a:p>
            <a:pPr indent="0" marL="0">
              <a:buNone/>
            </a:pPr>
            <a:r>
              <a:rPr lang="en-US" sz="1800" b="1" dirty="0">
                <a:solidFill>
                  <a:schemeClr val="tx1"/>
                </a:solidFill>
              </a:rPr>
              <a:t>Tab</a:t>
            </a:r>
            <a:endParaRPr lang="en-US" sz="1800" dirty="0"/>
          </a:p>
        </p:txBody>
      </p:sp>
      <p:sp>
        <p:nvSpPr>
          <p:cNvPr id="18" name="Text 13"/>
          <p:cNvSpPr txBox="1"/>
          <p:nvPr/>
        </p:nvSpPr>
        <p:spPr>
          <a:xfrm>
            <a:off x="1234440" y="3931920"/>
            <a:ext cx="2103120" cy="548640"/>
          </a:xfrm>
          <a:prstGeom prst="rect">
            <a:avLst/>
          </a:prstGeom>
          <a:noFill/>
          <a:ln/>
        </p:spPr>
        <p:txBody>
          <a:bodyPr wrap="square" lIns="0" tIns="0" rIns="0" bIns="0" rtlCol="0" anchor="t"/>
          <a:lstStyle/>
          <a:p>
            <a:pPr indent="0" marL="0">
              <a:buNone/>
            </a:pPr>
            <a:r>
              <a:rPr lang="en-US" sz="1400" dirty="0">
                <a:solidFill>
                  <a:srgbClr val="5B6475"/>
                </a:solidFill>
              </a:rPr>
              <a:t>Pisah topik dalam 1 halaman</a:t>
            </a:r>
            <a:endParaRPr lang="en-US" sz="1400" dirty="0"/>
          </a:p>
        </p:txBody>
      </p:sp>
      <p:sp>
        <p:nvSpPr>
          <p:cNvPr id="19" name="lay-code-2"/>
          <p:cNvSpPr/>
          <p:nvPr/>
        </p:nvSpPr>
        <p:spPr>
          <a:xfrm>
            <a:off x="3474720" y="3474720"/>
            <a:ext cx="5212080" cy="914400"/>
          </a:xfrm>
          <a:prstGeom prst="roundRect">
            <a:avLst>
              <a:gd name="adj" fmla="val 8000"/>
            </a:avLst>
          </a:prstGeom>
          <a:solidFill>
            <a:srgbClr val="14161F"/>
          </a:solidFill>
          <a:ln w="12700">
            <a:solidFill>
              <a:srgbClr val="14161F"/>
            </a:solidFill>
            <a:prstDash val="solid"/>
          </a:ln>
        </p:spPr>
      </p:sp>
      <p:sp>
        <p:nvSpPr>
          <p:cNvPr id="20" name="lay-code-2-text"/>
          <p:cNvSpPr txBox="1"/>
          <p:nvPr/>
        </p:nvSpPr>
        <p:spPr>
          <a:xfrm>
            <a:off x="3611880" y="3474720"/>
            <a:ext cx="4937760" cy="91440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t1, t2 = st.tabs(["Data", "Statistik"])</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with t1: st.dataframe(df)</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Statistik Python ke Streamlit</a:t>
            </a:r>
            <a:endParaRPr lang="en-US" sz="3400" dirty="0"/>
          </a:p>
        </p:txBody>
      </p:sp>
      <p:graphicFrame>
        <p:nvGraphicFramePr>
          <p:cNvPr id="10" name="mapping-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931920"/>
                <a:gridCol w="4297680"/>
              </a:tblGrid>
              <a:tr h="457200">
                <a:tc>
                  <a:txBody>
                    <a:bodyPr/>
                    <a:lstStyle/>
                    <a:p>
                      <a:pPr indent="0" marL="0">
                        <a:buNone/>
                      </a:pPr>
                      <a:r>
                        <a:rPr lang="en-US" sz="1400" b="1" dirty="0">
                          <a:solidFill>
                            <a:srgbClr val="FFFFFF"/>
                          </a:solidFill>
                        </a:rPr>
                        <a:t>Pertemuan 2 (Python)</a:t>
                      </a:r>
                      <a:endParaRPr lang="en-US" sz="1400" dirty="0"/>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4161F"/>
                    </a:solidFill>
                  </a:tcPr>
                </a:tc>
                <a:tc>
                  <a:txBody>
                    <a:bodyPr/>
                    <a:lstStyle/>
                    <a:p>
                      <a:pPr indent="0" marL="0">
                        <a:buNone/>
                      </a:pPr>
                      <a:r>
                        <a:rPr lang="en-US" sz="1400" b="1" dirty="0">
                          <a:solidFill>
                            <a:srgbClr val="FFFFFF"/>
                          </a:solidFill>
                        </a:rPr>
                        <a:t>Pertemuan 4 (Streamlit)</a:t>
                      </a:r>
                      <a:endParaRPr lang="en-US" sz="1400" dirty="0"/>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4161F"/>
                    </a:solidFill>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x.mean(), x.median()</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st.metric("Mean", ...)</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df.describe()</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st.dataframe(...)</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plt.hist(), plt.boxplot()</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st.pyplot(fig)</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df[df["Kelas"] == "A"]</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st.multiselect(...) + isin()</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if ... else ...</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st.success(), st.warning()</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r h="457200">
                <a:tc>
                  <a:txBody>
                    <a:bodyPr/>
                    <a:lstStyle/>
                    <a:p>
                      <a:pPr indent="0" marL="0">
                        <a:buNone/>
                      </a:pPr>
                      <a:r>
                        <a:rPr lang="en-US" sz="1400" dirty="0">
                          <a:solidFill>
                            <a:srgbClr val="14161F"/>
                          </a:solidFill>
                          <a:latin typeface="Courier New" pitchFamily="34" charset="0"/>
                          <a:ea typeface="Courier New" pitchFamily="34" charset="-122"/>
                          <a:cs typeface="Courier New" pitchFamily="34" charset="-120"/>
                        </a:rPr>
                        <a:t>def hitung_statistik()</a:t>
                      </a:r>
                      <a:endParaRPr lang="en-US" sz="1400" dirty="0">
                        <a:latin typeface="Courier New" charset="0"/>
                        <a:ea typeface="Courier New" charset="0"/>
                        <a:cs typeface="Courier New" charset="0"/>
                      </a:endParaRPr>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c>
                  <a:txBody>
                    <a:bodyPr/>
                    <a:lstStyle/>
                    <a:p>
                      <a:pPr indent="0" marL="0">
                        <a:buNone/>
                      </a:pPr>
                      <a:r>
                        <a:rPr lang="en-US" sz="1400" i="1" dirty="0">
                          <a:solidFill>
                            <a:srgbClr val="5B6475"/>
                          </a:solidFill>
                        </a:rPr>
                        <a:t>tetap function biasa</a:t>
                      </a:r>
                      <a:endParaRPr lang="en-US" sz="1400" dirty="0"/>
                    </a:p>
                  </a:txBody>
                  <a:tcPr marL="109728" marR="109728" marT="0" marB="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Dashboard yang Kita Bangun</a:t>
            </a:r>
            <a:endParaRPr lang="en-US" sz="3400" dirty="0"/>
          </a:p>
        </p:txBody>
      </p:sp>
      <p:sp>
        <p:nvSpPr>
          <p:cNvPr id="3" name="mock-frame"/>
          <p:cNvSpPr/>
          <p:nvPr/>
        </p:nvSpPr>
        <p:spPr>
          <a:xfrm>
            <a:off x="457200" y="1280160"/>
            <a:ext cx="4846320" cy="3246120"/>
          </a:xfrm>
          <a:prstGeom prst="roundRect">
            <a:avLst>
              <a:gd name="adj" fmla="val 4225"/>
            </a:avLst>
          </a:prstGeom>
          <a:solidFill>
            <a:srgbClr val="F3F4F6"/>
          </a:solidFill>
          <a:ln w="12700">
            <a:solidFill>
              <a:srgbClr val="D9DDE5"/>
            </a:solidFill>
            <a:prstDash val="solid"/>
          </a:ln>
        </p:spPr>
      </p:sp>
      <p:sp>
        <p:nvSpPr>
          <p:cNvPr id="4" name="mock-sidebar"/>
          <p:cNvSpPr/>
          <p:nvPr/>
        </p:nvSpPr>
        <p:spPr>
          <a:xfrm>
            <a:off x="548640" y="1371600"/>
            <a:ext cx="1066190" cy="3063240"/>
          </a:xfrm>
          <a:prstGeom prst="roundRect">
            <a:avLst>
              <a:gd name="adj" fmla="val 6861"/>
            </a:avLst>
          </a:prstGeom>
          <a:solidFill>
            <a:srgbClr val="FFFFFF"/>
          </a:solidFill>
          <a:ln w="12700">
            <a:solidFill>
              <a:srgbClr val="FFFFFF"/>
            </a:solidFill>
            <a:prstDash val="solid"/>
          </a:ln>
        </p:spPr>
      </p:sp>
      <p:sp>
        <p:nvSpPr>
          <p:cNvPr id="5" name="Text 3"/>
          <p:cNvSpPr txBox="1"/>
          <p:nvPr/>
        </p:nvSpPr>
        <p:spPr>
          <a:xfrm>
            <a:off x="621792" y="1463040"/>
            <a:ext cx="919886" cy="182880"/>
          </a:xfrm>
          <a:prstGeom prst="rect">
            <a:avLst/>
          </a:prstGeom>
          <a:noFill/>
          <a:ln/>
        </p:spPr>
        <p:txBody>
          <a:bodyPr wrap="square" lIns="0" tIns="0" rIns="0" bIns="0" rtlCol="0" anchor="t"/>
          <a:lstStyle/>
          <a:p>
            <a:pPr indent="0" marL="0">
              <a:buNone/>
            </a:pPr>
            <a:r>
              <a:rPr lang="en-US" sz="1000" dirty="0">
                <a:solidFill>
                  <a:srgbClr val="5B6475"/>
                </a:solidFill>
              </a:rPr>
              <a:t>Kolom</a:t>
            </a:r>
            <a:endParaRPr lang="en-US" sz="1000" dirty="0"/>
          </a:p>
        </p:txBody>
      </p:sp>
      <p:sp>
        <p:nvSpPr>
          <p:cNvPr id="6" name="mock-widget-0"/>
          <p:cNvSpPr/>
          <p:nvPr/>
        </p:nvSpPr>
        <p:spPr>
          <a:xfrm>
            <a:off x="621792" y="1737360"/>
            <a:ext cx="919886" cy="128016"/>
          </a:xfrm>
          <a:prstGeom prst="roundRect">
            <a:avLst>
              <a:gd name="adj" fmla="val 35714"/>
            </a:avLst>
          </a:prstGeom>
          <a:solidFill>
            <a:srgbClr val="E5393B"/>
          </a:solidFill>
          <a:ln w="12700">
            <a:solidFill>
              <a:srgbClr val="D9DDE5"/>
            </a:solidFill>
            <a:prstDash val="solid"/>
          </a:ln>
        </p:spPr>
      </p:sp>
      <p:sp>
        <p:nvSpPr>
          <p:cNvPr id="7" name="mock-widget-1"/>
          <p:cNvSpPr/>
          <p:nvPr/>
        </p:nvSpPr>
        <p:spPr>
          <a:xfrm>
            <a:off x="621792" y="2029968"/>
            <a:ext cx="919886" cy="128016"/>
          </a:xfrm>
          <a:prstGeom prst="roundRect">
            <a:avLst>
              <a:gd name="adj" fmla="val 35714"/>
            </a:avLst>
          </a:prstGeom>
          <a:solidFill>
            <a:srgbClr val="D9DDE5"/>
          </a:solidFill>
          <a:ln w="12700">
            <a:solidFill>
              <a:srgbClr val="D9DDE5"/>
            </a:solidFill>
            <a:prstDash val="solid"/>
          </a:ln>
        </p:spPr>
      </p:sp>
      <p:sp>
        <p:nvSpPr>
          <p:cNvPr id="8" name="mock-widget-2"/>
          <p:cNvSpPr/>
          <p:nvPr/>
        </p:nvSpPr>
        <p:spPr>
          <a:xfrm>
            <a:off x="621792" y="2322576"/>
            <a:ext cx="919886" cy="128016"/>
          </a:xfrm>
          <a:prstGeom prst="roundRect">
            <a:avLst>
              <a:gd name="adj" fmla="val 35714"/>
            </a:avLst>
          </a:prstGeom>
          <a:solidFill>
            <a:srgbClr val="D9DDE5"/>
          </a:solidFill>
          <a:ln w="12700">
            <a:solidFill>
              <a:srgbClr val="D9DDE5"/>
            </a:solidFill>
            <a:prstDash val="solid"/>
          </a:ln>
        </p:spPr>
      </p:sp>
      <p:sp>
        <p:nvSpPr>
          <p:cNvPr id="9" name="mock-tab-0"/>
          <p:cNvSpPr/>
          <p:nvPr/>
        </p:nvSpPr>
        <p:spPr>
          <a:xfrm>
            <a:off x="1724558" y="1389888"/>
            <a:ext cx="821588" cy="256032"/>
          </a:xfrm>
          <a:prstGeom prst="roundRect">
            <a:avLst>
              <a:gd name="adj" fmla="val 17857"/>
            </a:avLst>
          </a:prstGeom>
          <a:solidFill>
            <a:srgbClr val="E5393B"/>
          </a:solidFill>
          <a:ln w="12700">
            <a:solidFill>
              <a:srgbClr val="E5393B"/>
            </a:solidFill>
            <a:prstDash val="solid"/>
          </a:ln>
        </p:spPr>
      </p:sp>
      <p:sp>
        <p:nvSpPr>
          <p:cNvPr id="10" name="Text 8"/>
          <p:cNvSpPr txBox="1"/>
          <p:nvPr/>
        </p:nvSpPr>
        <p:spPr>
          <a:xfrm>
            <a:off x="1724558" y="1389888"/>
            <a:ext cx="821588" cy="256032"/>
          </a:xfrm>
          <a:prstGeom prst="rect">
            <a:avLst/>
          </a:prstGeom>
          <a:noFill/>
          <a:ln/>
        </p:spPr>
        <p:txBody>
          <a:bodyPr wrap="square" lIns="0" tIns="0" rIns="0" bIns="0" rtlCol="0" anchor="ctr"/>
          <a:lstStyle/>
          <a:p>
            <a:pPr algn="ctr" indent="0" marL="0">
              <a:buNone/>
            </a:pPr>
            <a:r>
              <a:rPr lang="en-US" sz="1000" b="1" dirty="0">
                <a:solidFill>
                  <a:srgbClr val="FFFFFF"/>
                </a:solidFill>
              </a:rPr>
              <a:t>Data</a:t>
            </a:r>
            <a:endParaRPr lang="en-US" sz="1000" dirty="0"/>
          </a:p>
        </p:txBody>
      </p:sp>
      <p:sp>
        <p:nvSpPr>
          <p:cNvPr id="11" name="mock-tab-1"/>
          <p:cNvSpPr/>
          <p:nvPr/>
        </p:nvSpPr>
        <p:spPr>
          <a:xfrm>
            <a:off x="2591867" y="1389888"/>
            <a:ext cx="821588" cy="256032"/>
          </a:xfrm>
          <a:prstGeom prst="roundRect">
            <a:avLst>
              <a:gd name="adj" fmla="val 17857"/>
            </a:avLst>
          </a:prstGeom>
          <a:solidFill>
            <a:srgbClr val="D9DDE5"/>
          </a:solidFill>
          <a:ln w="12700">
            <a:solidFill>
              <a:srgbClr val="D9DDE5"/>
            </a:solidFill>
            <a:prstDash val="solid"/>
          </a:ln>
        </p:spPr>
      </p:sp>
      <p:sp>
        <p:nvSpPr>
          <p:cNvPr id="12" name="Text 10"/>
          <p:cNvSpPr txBox="1"/>
          <p:nvPr/>
        </p:nvSpPr>
        <p:spPr>
          <a:xfrm>
            <a:off x="2591867" y="1389888"/>
            <a:ext cx="821588" cy="256032"/>
          </a:xfrm>
          <a:prstGeom prst="rect">
            <a:avLst/>
          </a:prstGeom>
          <a:noFill/>
          <a:ln/>
        </p:spPr>
        <p:txBody>
          <a:bodyPr wrap="square" lIns="0" tIns="0" rIns="0" bIns="0" rtlCol="0" anchor="ctr"/>
          <a:lstStyle/>
          <a:p>
            <a:pPr algn="ctr" indent="0" marL="0">
              <a:buNone/>
            </a:pPr>
            <a:r>
              <a:rPr lang="en-US" sz="1000" dirty="0">
                <a:solidFill>
                  <a:srgbClr val="14161F"/>
                </a:solidFill>
              </a:rPr>
              <a:t>Statistik</a:t>
            </a:r>
            <a:endParaRPr lang="en-US" sz="1000" dirty="0"/>
          </a:p>
        </p:txBody>
      </p:sp>
      <p:sp>
        <p:nvSpPr>
          <p:cNvPr id="13" name="mock-tab-2"/>
          <p:cNvSpPr/>
          <p:nvPr/>
        </p:nvSpPr>
        <p:spPr>
          <a:xfrm>
            <a:off x="3459175" y="1389888"/>
            <a:ext cx="821588" cy="256032"/>
          </a:xfrm>
          <a:prstGeom prst="roundRect">
            <a:avLst>
              <a:gd name="adj" fmla="val 17857"/>
            </a:avLst>
          </a:prstGeom>
          <a:solidFill>
            <a:srgbClr val="D9DDE5"/>
          </a:solidFill>
          <a:ln w="12700">
            <a:solidFill>
              <a:srgbClr val="D9DDE5"/>
            </a:solidFill>
            <a:prstDash val="solid"/>
          </a:ln>
        </p:spPr>
      </p:sp>
      <p:sp>
        <p:nvSpPr>
          <p:cNvPr id="14" name="Text 12"/>
          <p:cNvSpPr txBox="1"/>
          <p:nvPr/>
        </p:nvSpPr>
        <p:spPr>
          <a:xfrm>
            <a:off x="3459175" y="1389888"/>
            <a:ext cx="821588" cy="256032"/>
          </a:xfrm>
          <a:prstGeom prst="rect">
            <a:avLst/>
          </a:prstGeom>
          <a:noFill/>
          <a:ln/>
        </p:spPr>
        <p:txBody>
          <a:bodyPr wrap="square" lIns="0" tIns="0" rIns="0" bIns="0" rtlCol="0" anchor="ctr"/>
          <a:lstStyle/>
          <a:p>
            <a:pPr algn="ctr" indent="0" marL="0">
              <a:buNone/>
            </a:pPr>
            <a:r>
              <a:rPr lang="en-US" sz="1000" dirty="0">
                <a:solidFill>
                  <a:srgbClr val="14161F"/>
                </a:solidFill>
              </a:rPr>
              <a:t>Visual</a:t>
            </a:r>
            <a:endParaRPr lang="en-US" sz="1000" dirty="0"/>
          </a:p>
        </p:txBody>
      </p:sp>
      <p:sp>
        <p:nvSpPr>
          <p:cNvPr id="15" name="mock-tab-3"/>
          <p:cNvSpPr/>
          <p:nvPr/>
        </p:nvSpPr>
        <p:spPr>
          <a:xfrm>
            <a:off x="4326484" y="1389888"/>
            <a:ext cx="821588" cy="256032"/>
          </a:xfrm>
          <a:prstGeom prst="roundRect">
            <a:avLst>
              <a:gd name="adj" fmla="val 17857"/>
            </a:avLst>
          </a:prstGeom>
          <a:solidFill>
            <a:srgbClr val="D9DDE5"/>
          </a:solidFill>
          <a:ln w="12700">
            <a:solidFill>
              <a:srgbClr val="D9DDE5"/>
            </a:solidFill>
            <a:prstDash val="solid"/>
          </a:ln>
        </p:spPr>
      </p:sp>
      <p:sp>
        <p:nvSpPr>
          <p:cNvPr id="16" name="Text 14"/>
          <p:cNvSpPr txBox="1"/>
          <p:nvPr/>
        </p:nvSpPr>
        <p:spPr>
          <a:xfrm>
            <a:off x="4326484" y="1389888"/>
            <a:ext cx="821588" cy="256032"/>
          </a:xfrm>
          <a:prstGeom prst="rect">
            <a:avLst/>
          </a:prstGeom>
          <a:noFill/>
          <a:ln/>
        </p:spPr>
        <p:txBody>
          <a:bodyPr wrap="square" lIns="0" tIns="0" rIns="0" bIns="0" rtlCol="0" anchor="ctr"/>
          <a:lstStyle/>
          <a:p>
            <a:pPr algn="ctr" indent="0" marL="0">
              <a:buNone/>
            </a:pPr>
            <a:r>
              <a:rPr lang="en-US" sz="1000" dirty="0">
                <a:solidFill>
                  <a:srgbClr val="14161F"/>
                </a:solidFill>
              </a:rPr>
              <a:t>Dadu</a:t>
            </a:r>
            <a:endParaRPr lang="en-US" sz="1000" dirty="0"/>
          </a:p>
        </p:txBody>
      </p:sp>
      <p:sp>
        <p:nvSpPr>
          <p:cNvPr id="17" name="mock-metric-0"/>
          <p:cNvSpPr/>
          <p:nvPr/>
        </p:nvSpPr>
        <p:spPr>
          <a:xfrm>
            <a:off x="1724558" y="1773936"/>
            <a:ext cx="1688897" cy="506120"/>
          </a:xfrm>
          <a:prstGeom prst="roundRect">
            <a:avLst>
              <a:gd name="adj" fmla="val 14453"/>
            </a:avLst>
          </a:prstGeom>
          <a:solidFill>
            <a:srgbClr val="FFFFFF"/>
          </a:solidFill>
          <a:ln w="12700">
            <a:solidFill>
              <a:srgbClr val="FFFFFF"/>
            </a:solidFill>
            <a:prstDash val="solid"/>
          </a:ln>
        </p:spPr>
      </p:sp>
      <p:sp>
        <p:nvSpPr>
          <p:cNvPr id="18" name="Text 16"/>
          <p:cNvSpPr txBox="1"/>
          <p:nvPr/>
        </p:nvSpPr>
        <p:spPr>
          <a:xfrm>
            <a:off x="1815998" y="1773936"/>
            <a:ext cx="1506017" cy="506120"/>
          </a:xfrm>
          <a:prstGeom prst="rect">
            <a:avLst/>
          </a:prstGeom>
          <a:noFill/>
          <a:ln/>
        </p:spPr>
        <p:txBody>
          <a:bodyPr wrap="square" lIns="0" tIns="0" rIns="0" bIns="0" rtlCol="0" anchor="ctr"/>
          <a:lstStyle/>
          <a:p>
            <a:pPr indent="0" marL="0">
              <a:buNone/>
            </a:pPr>
            <a:r>
              <a:rPr lang="en-US" sz="1000" dirty="0">
                <a:solidFill>
                  <a:srgbClr val="5B6475"/>
                </a:solidFill>
              </a:rPr>
              <a:t>Mean</a:t>
            </a:r>
            <a:endParaRPr lang="en-US" sz="1000" dirty="0"/>
          </a:p>
          <a:p>
            <a:pPr indent="0" marL="0">
              <a:buNone/>
            </a:pPr>
            <a:r>
              <a:rPr lang="en-US" sz="1600" b="1" dirty="0">
                <a:solidFill>
                  <a:srgbClr val="14161F"/>
                </a:solidFill>
              </a:rPr>
              <a:t>68.3</a:t>
            </a:r>
            <a:endParaRPr lang="en-US" sz="1000" dirty="0"/>
          </a:p>
        </p:txBody>
      </p:sp>
      <p:sp>
        <p:nvSpPr>
          <p:cNvPr id="19" name="mock-metric-1"/>
          <p:cNvSpPr/>
          <p:nvPr/>
        </p:nvSpPr>
        <p:spPr>
          <a:xfrm>
            <a:off x="3504895" y="1773936"/>
            <a:ext cx="1688897" cy="506120"/>
          </a:xfrm>
          <a:prstGeom prst="roundRect">
            <a:avLst>
              <a:gd name="adj" fmla="val 14453"/>
            </a:avLst>
          </a:prstGeom>
          <a:solidFill>
            <a:srgbClr val="FFFFFF"/>
          </a:solidFill>
          <a:ln w="12700">
            <a:solidFill>
              <a:srgbClr val="FFFFFF"/>
            </a:solidFill>
            <a:prstDash val="solid"/>
          </a:ln>
        </p:spPr>
      </p:sp>
      <p:sp>
        <p:nvSpPr>
          <p:cNvPr id="20" name="Text 18"/>
          <p:cNvSpPr txBox="1"/>
          <p:nvPr/>
        </p:nvSpPr>
        <p:spPr>
          <a:xfrm>
            <a:off x="3596335" y="1773936"/>
            <a:ext cx="1506017" cy="506120"/>
          </a:xfrm>
          <a:prstGeom prst="rect">
            <a:avLst/>
          </a:prstGeom>
          <a:noFill/>
          <a:ln/>
        </p:spPr>
        <p:txBody>
          <a:bodyPr wrap="square" lIns="0" tIns="0" rIns="0" bIns="0" rtlCol="0" anchor="ctr"/>
          <a:lstStyle/>
          <a:p>
            <a:pPr indent="0" marL="0">
              <a:buNone/>
            </a:pPr>
            <a:r>
              <a:rPr lang="en-US" sz="1000" dirty="0">
                <a:solidFill>
                  <a:srgbClr val="5B6475"/>
                </a:solidFill>
              </a:rPr>
              <a:t>Median</a:t>
            </a:r>
            <a:endParaRPr lang="en-US" sz="1000" dirty="0"/>
          </a:p>
          <a:p>
            <a:pPr indent="0" marL="0">
              <a:buNone/>
            </a:pPr>
            <a:r>
              <a:rPr lang="en-US" sz="1600" b="1" dirty="0">
                <a:solidFill>
                  <a:srgbClr val="14161F"/>
                </a:solidFill>
              </a:rPr>
              <a:t>69.5</a:t>
            </a:r>
            <a:endParaRPr lang="en-US" sz="1000" dirty="0"/>
          </a:p>
        </p:txBody>
      </p:sp>
      <p:sp>
        <p:nvSpPr>
          <p:cNvPr id="21" name="mock-metric-2"/>
          <p:cNvSpPr/>
          <p:nvPr/>
        </p:nvSpPr>
        <p:spPr>
          <a:xfrm>
            <a:off x="1724558" y="2371496"/>
            <a:ext cx="1688897" cy="506120"/>
          </a:xfrm>
          <a:prstGeom prst="roundRect">
            <a:avLst>
              <a:gd name="adj" fmla="val 14453"/>
            </a:avLst>
          </a:prstGeom>
          <a:solidFill>
            <a:srgbClr val="FFFFFF"/>
          </a:solidFill>
          <a:ln w="12700">
            <a:solidFill>
              <a:srgbClr val="FFFFFF"/>
            </a:solidFill>
            <a:prstDash val="solid"/>
          </a:ln>
        </p:spPr>
      </p:sp>
      <p:sp>
        <p:nvSpPr>
          <p:cNvPr id="22" name="Text 20"/>
          <p:cNvSpPr txBox="1"/>
          <p:nvPr/>
        </p:nvSpPr>
        <p:spPr>
          <a:xfrm>
            <a:off x="1815998" y="2371496"/>
            <a:ext cx="1506017" cy="506120"/>
          </a:xfrm>
          <a:prstGeom prst="rect">
            <a:avLst/>
          </a:prstGeom>
          <a:noFill/>
          <a:ln/>
        </p:spPr>
        <p:txBody>
          <a:bodyPr wrap="square" lIns="0" tIns="0" rIns="0" bIns="0" rtlCol="0" anchor="ctr"/>
          <a:lstStyle/>
          <a:p>
            <a:pPr indent="0" marL="0">
              <a:buNone/>
            </a:pPr>
            <a:r>
              <a:rPr lang="en-US" sz="1000" dirty="0">
                <a:solidFill>
                  <a:srgbClr val="5B6475"/>
                </a:solidFill>
              </a:rPr>
              <a:t>Std Dev</a:t>
            </a:r>
            <a:endParaRPr lang="en-US" sz="1000" dirty="0"/>
          </a:p>
          <a:p>
            <a:pPr indent="0" marL="0">
              <a:buNone/>
            </a:pPr>
            <a:r>
              <a:rPr lang="en-US" sz="1600" b="1" dirty="0">
                <a:solidFill>
                  <a:srgbClr val="14161F"/>
                </a:solidFill>
              </a:rPr>
              <a:t>12.5</a:t>
            </a:r>
            <a:endParaRPr lang="en-US" sz="1000" dirty="0"/>
          </a:p>
        </p:txBody>
      </p:sp>
      <p:sp>
        <p:nvSpPr>
          <p:cNvPr id="23" name="mock-metric-3"/>
          <p:cNvSpPr/>
          <p:nvPr/>
        </p:nvSpPr>
        <p:spPr>
          <a:xfrm>
            <a:off x="3504895" y="2371496"/>
            <a:ext cx="1688897" cy="506120"/>
          </a:xfrm>
          <a:prstGeom prst="roundRect">
            <a:avLst>
              <a:gd name="adj" fmla="val 14453"/>
            </a:avLst>
          </a:prstGeom>
          <a:solidFill>
            <a:srgbClr val="FFFFFF"/>
          </a:solidFill>
          <a:ln w="12700">
            <a:solidFill>
              <a:srgbClr val="FFFFFF"/>
            </a:solidFill>
            <a:prstDash val="solid"/>
          </a:ln>
        </p:spPr>
      </p:sp>
      <p:sp>
        <p:nvSpPr>
          <p:cNvPr id="24" name="Text 22"/>
          <p:cNvSpPr txBox="1"/>
          <p:nvPr/>
        </p:nvSpPr>
        <p:spPr>
          <a:xfrm>
            <a:off x="3596335" y="2371496"/>
            <a:ext cx="1506017" cy="506120"/>
          </a:xfrm>
          <a:prstGeom prst="rect">
            <a:avLst/>
          </a:prstGeom>
          <a:noFill/>
          <a:ln/>
        </p:spPr>
        <p:txBody>
          <a:bodyPr wrap="square" lIns="0" tIns="0" rIns="0" bIns="0" rtlCol="0" anchor="ctr"/>
          <a:lstStyle/>
          <a:p>
            <a:pPr indent="0" marL="0">
              <a:buNone/>
            </a:pPr>
            <a:r>
              <a:rPr lang="en-US" sz="1000" dirty="0">
                <a:solidFill>
                  <a:srgbClr val="5B6475"/>
                </a:solidFill>
              </a:rPr>
              <a:t>IQR</a:t>
            </a:r>
            <a:endParaRPr lang="en-US" sz="1000" dirty="0"/>
          </a:p>
          <a:p>
            <a:pPr indent="0" marL="0">
              <a:buNone/>
            </a:pPr>
            <a:r>
              <a:rPr lang="en-US" sz="1600" b="1" dirty="0">
                <a:solidFill>
                  <a:srgbClr val="14161F"/>
                </a:solidFill>
              </a:rPr>
              <a:t>15</a:t>
            </a:r>
            <a:endParaRPr lang="en-US" sz="1000" dirty="0"/>
          </a:p>
        </p:txBody>
      </p:sp>
      <p:sp>
        <p:nvSpPr>
          <p:cNvPr id="25" name="mock-bar-0"/>
          <p:cNvSpPr/>
          <p:nvPr/>
        </p:nvSpPr>
        <p:spPr>
          <a:xfrm>
            <a:off x="1751990" y="4325403"/>
            <a:ext cx="378790" cy="63717"/>
          </a:xfrm>
          <a:prstGeom prst="rect">
            <a:avLst/>
          </a:prstGeom>
          <a:solidFill>
            <a:srgbClr val="0B7F7A"/>
          </a:solidFill>
          <a:ln w="12700">
            <a:solidFill>
              <a:srgbClr val="0B7F7A"/>
            </a:solidFill>
            <a:prstDash val="solid"/>
          </a:ln>
        </p:spPr>
      </p:sp>
      <p:sp>
        <p:nvSpPr>
          <p:cNvPr id="26" name="mock-bar-1"/>
          <p:cNvSpPr/>
          <p:nvPr/>
        </p:nvSpPr>
        <p:spPr>
          <a:xfrm>
            <a:off x="2185645" y="4361688"/>
            <a:ext cx="378790" cy="27432"/>
          </a:xfrm>
          <a:prstGeom prst="rect">
            <a:avLst/>
          </a:prstGeom>
          <a:solidFill>
            <a:srgbClr val="0B7F7A"/>
          </a:solidFill>
          <a:ln w="12700">
            <a:solidFill>
              <a:srgbClr val="0B7F7A"/>
            </a:solidFill>
            <a:prstDash val="solid"/>
          </a:ln>
        </p:spPr>
      </p:sp>
      <p:sp>
        <p:nvSpPr>
          <p:cNvPr id="27" name="mock-bar-2"/>
          <p:cNvSpPr/>
          <p:nvPr/>
        </p:nvSpPr>
        <p:spPr>
          <a:xfrm>
            <a:off x="2619299" y="4325403"/>
            <a:ext cx="378790" cy="63717"/>
          </a:xfrm>
          <a:prstGeom prst="rect">
            <a:avLst/>
          </a:prstGeom>
          <a:solidFill>
            <a:srgbClr val="0B7F7A"/>
          </a:solidFill>
          <a:ln w="12700">
            <a:solidFill>
              <a:srgbClr val="0B7F7A"/>
            </a:solidFill>
            <a:prstDash val="solid"/>
          </a:ln>
        </p:spPr>
      </p:sp>
      <p:sp>
        <p:nvSpPr>
          <p:cNvPr id="28" name="mock-bar-3"/>
          <p:cNvSpPr/>
          <p:nvPr/>
        </p:nvSpPr>
        <p:spPr>
          <a:xfrm>
            <a:off x="3052953" y="4070535"/>
            <a:ext cx="378790" cy="318585"/>
          </a:xfrm>
          <a:prstGeom prst="rect">
            <a:avLst/>
          </a:prstGeom>
          <a:solidFill>
            <a:srgbClr val="0B7F7A"/>
          </a:solidFill>
          <a:ln w="12700">
            <a:solidFill>
              <a:srgbClr val="0B7F7A"/>
            </a:solidFill>
            <a:prstDash val="solid"/>
          </a:ln>
        </p:spPr>
      </p:sp>
      <p:sp>
        <p:nvSpPr>
          <p:cNvPr id="29" name="mock-bar-4"/>
          <p:cNvSpPr/>
          <p:nvPr/>
        </p:nvSpPr>
        <p:spPr>
          <a:xfrm>
            <a:off x="3486607" y="3560798"/>
            <a:ext cx="378790" cy="828322"/>
          </a:xfrm>
          <a:prstGeom prst="rect">
            <a:avLst/>
          </a:prstGeom>
          <a:solidFill>
            <a:srgbClr val="0B7F7A"/>
          </a:solidFill>
          <a:ln w="12700">
            <a:solidFill>
              <a:srgbClr val="0B7F7A"/>
            </a:solidFill>
            <a:prstDash val="solid"/>
          </a:ln>
        </p:spPr>
      </p:sp>
      <p:sp>
        <p:nvSpPr>
          <p:cNvPr id="30" name="mock-bar-5"/>
          <p:cNvSpPr/>
          <p:nvPr/>
        </p:nvSpPr>
        <p:spPr>
          <a:xfrm>
            <a:off x="3920261" y="2987345"/>
            <a:ext cx="378790" cy="1401775"/>
          </a:xfrm>
          <a:prstGeom prst="rect">
            <a:avLst/>
          </a:prstGeom>
          <a:solidFill>
            <a:srgbClr val="0B7F7A"/>
          </a:solidFill>
          <a:ln w="12700">
            <a:solidFill>
              <a:srgbClr val="0B7F7A"/>
            </a:solidFill>
            <a:prstDash val="solid"/>
          </a:ln>
        </p:spPr>
      </p:sp>
      <p:sp>
        <p:nvSpPr>
          <p:cNvPr id="31" name="mock-bar-6"/>
          <p:cNvSpPr/>
          <p:nvPr/>
        </p:nvSpPr>
        <p:spPr>
          <a:xfrm>
            <a:off x="4353916" y="3497081"/>
            <a:ext cx="378790" cy="892039"/>
          </a:xfrm>
          <a:prstGeom prst="rect">
            <a:avLst/>
          </a:prstGeom>
          <a:solidFill>
            <a:srgbClr val="0B7F7A"/>
          </a:solidFill>
          <a:ln w="12700">
            <a:solidFill>
              <a:srgbClr val="0B7F7A"/>
            </a:solidFill>
            <a:prstDash val="solid"/>
          </a:ln>
        </p:spPr>
      </p:sp>
      <p:sp>
        <p:nvSpPr>
          <p:cNvPr id="32" name="mock-bar-7"/>
          <p:cNvSpPr/>
          <p:nvPr/>
        </p:nvSpPr>
        <p:spPr>
          <a:xfrm>
            <a:off x="4787570" y="4134252"/>
            <a:ext cx="378790" cy="254868"/>
          </a:xfrm>
          <a:prstGeom prst="rect">
            <a:avLst/>
          </a:prstGeom>
          <a:solidFill>
            <a:srgbClr val="0B7F7A"/>
          </a:solidFill>
          <a:ln w="12700">
            <a:solidFill>
              <a:srgbClr val="0B7F7A"/>
            </a:solidFill>
            <a:prstDash val="solid"/>
          </a:ln>
        </p:spPr>
      </p:sp>
      <p:sp>
        <p:nvSpPr>
          <p:cNvPr id="33" name="mock-mean-line"/>
          <p:cNvSpPr/>
          <p:nvPr/>
        </p:nvSpPr>
        <p:spPr>
          <a:xfrm>
            <a:off x="4035935" y="2987345"/>
            <a:ext cx="0" cy="1401775"/>
          </a:xfrm>
          <a:prstGeom prst="line">
            <a:avLst/>
          </a:prstGeom>
          <a:noFill/>
          <a:ln w="19050">
            <a:solidFill>
              <a:srgbClr val="E5393B"/>
            </a:solidFill>
            <a:prstDash val="dash"/>
          </a:ln>
        </p:spPr>
      </p:sp>
      <p:sp>
        <p:nvSpPr>
          <p:cNvPr id="34" name="tab-0-bg"/>
          <p:cNvSpPr/>
          <p:nvPr/>
        </p:nvSpPr>
        <p:spPr>
          <a:xfrm>
            <a:off x="5577840" y="1371600"/>
            <a:ext cx="457200" cy="457200"/>
          </a:xfrm>
          <a:prstGeom prst="ellipse">
            <a:avLst/>
          </a:prstGeom>
          <a:solidFill>
            <a:srgbClr val="E5393B"/>
          </a:solidFill>
          <a:ln w="12700">
            <a:solidFill>
              <a:srgbClr val="E5393B"/>
            </a:solidFill>
            <a:prstDash val="solid"/>
          </a:ln>
        </p:spPr>
      </p:sp>
      <p:pic>
        <p:nvPicPr>
          <p:cNvPr id="35" name="tab-0-icon" descr="FaTable">    </p:cNvPr>
          <p:cNvPicPr>
            <a:picLocks noChangeAspect="1"/>
          </p:cNvPicPr>
          <p:nvPr/>
        </p:nvPicPr>
        <p:blipFill>
          <a:blip r:embed="rId1"/>
          <a:stretch>
            <a:fillRect/>
          </a:stretch>
        </p:blipFill>
        <p:spPr>
          <a:xfrm>
            <a:off x="5692140" y="1485900"/>
            <a:ext cx="228600" cy="228600"/>
          </a:xfrm>
          <a:prstGeom prst="rect">
            <a:avLst/>
          </a:prstGeom>
        </p:spPr>
      </p:pic>
      <p:sp>
        <p:nvSpPr>
          <p:cNvPr id="36" name="tab-text-0"/>
          <p:cNvSpPr txBox="1"/>
          <p:nvPr/>
        </p:nvSpPr>
        <p:spPr>
          <a:xfrm>
            <a:off x="6172200" y="1280160"/>
            <a:ext cx="2514600" cy="777240"/>
          </a:xfrm>
          <a:prstGeom prst="rect">
            <a:avLst/>
          </a:prstGeom>
          <a:noFill/>
          <a:ln/>
        </p:spPr>
        <p:txBody>
          <a:bodyPr wrap="square" lIns="0" tIns="0" rIns="0" bIns="0" rtlCol="0" anchor="ctr"/>
          <a:lstStyle/>
          <a:p>
            <a:pPr indent="0" marL="0">
              <a:buNone/>
            </a:pPr>
            <a:r>
              <a:rPr lang="en-US" sz="1400" b="1" dirty="0">
                <a:solidFill>
                  <a:srgbClr val="14161F"/>
                </a:solidFill>
              </a:rPr>
              <a:t>Data</a:t>
            </a:r>
            <a:endParaRPr lang="en-US" sz="1400" dirty="0"/>
          </a:p>
          <a:p>
            <a:pPr indent="0" marL="0">
              <a:buNone/>
            </a:pPr>
            <a:r>
              <a:rPr lang="en-US" sz="1400" dirty="0">
                <a:solidFill>
                  <a:srgbClr val="5B6475"/>
                </a:solidFill>
              </a:rPr>
              <a:t>Tabel dan cek data kosong</a:t>
            </a:r>
            <a:endParaRPr lang="en-US" sz="1400" dirty="0"/>
          </a:p>
        </p:txBody>
      </p:sp>
      <p:sp>
        <p:nvSpPr>
          <p:cNvPr id="37" name="tab-1-bg"/>
          <p:cNvSpPr/>
          <p:nvPr/>
        </p:nvSpPr>
        <p:spPr>
          <a:xfrm>
            <a:off x="5577840" y="2194560"/>
            <a:ext cx="457200" cy="457200"/>
          </a:xfrm>
          <a:prstGeom prst="ellipse">
            <a:avLst/>
          </a:prstGeom>
          <a:solidFill>
            <a:srgbClr val="0B7F7A"/>
          </a:solidFill>
          <a:ln w="12700">
            <a:solidFill>
              <a:srgbClr val="0B7F7A"/>
            </a:solidFill>
            <a:prstDash val="solid"/>
          </a:ln>
        </p:spPr>
      </p:sp>
      <p:pic>
        <p:nvPicPr>
          <p:cNvPr id="38" name="tab-1-icon" descr="FaCalculator">    </p:cNvPr>
          <p:cNvPicPr>
            <a:picLocks noChangeAspect="1"/>
          </p:cNvPicPr>
          <p:nvPr/>
        </p:nvPicPr>
        <p:blipFill>
          <a:blip r:embed="rId2"/>
          <a:stretch>
            <a:fillRect/>
          </a:stretch>
        </p:blipFill>
        <p:spPr>
          <a:xfrm>
            <a:off x="5692140" y="2308860"/>
            <a:ext cx="228600" cy="228600"/>
          </a:xfrm>
          <a:prstGeom prst="rect">
            <a:avLst/>
          </a:prstGeom>
        </p:spPr>
      </p:pic>
      <p:sp>
        <p:nvSpPr>
          <p:cNvPr id="39" name="tab-text-1"/>
          <p:cNvSpPr txBox="1"/>
          <p:nvPr/>
        </p:nvSpPr>
        <p:spPr>
          <a:xfrm>
            <a:off x="6172200" y="2103120"/>
            <a:ext cx="2514600" cy="777240"/>
          </a:xfrm>
          <a:prstGeom prst="rect">
            <a:avLst/>
          </a:prstGeom>
          <a:noFill/>
          <a:ln/>
        </p:spPr>
        <p:txBody>
          <a:bodyPr wrap="square" lIns="0" tIns="0" rIns="0" bIns="0" rtlCol="0" anchor="ctr"/>
          <a:lstStyle/>
          <a:p>
            <a:pPr indent="0" marL="0">
              <a:buNone/>
            </a:pPr>
            <a:r>
              <a:rPr lang="en-US" sz="1400" b="1" dirty="0">
                <a:solidFill>
                  <a:srgbClr val="14161F"/>
                </a:solidFill>
              </a:rPr>
              <a:t>Statistik</a:t>
            </a:r>
            <a:endParaRPr lang="en-US" sz="1400" dirty="0"/>
          </a:p>
          <a:p>
            <a:pPr indent="0" marL="0">
              <a:buNone/>
            </a:pPr>
            <a:r>
              <a:rPr lang="en-US" sz="1400" dirty="0">
                <a:solidFill>
                  <a:srgbClr val="5B6475"/>
                </a:solidFill>
              </a:rPr>
              <a:t>Mean, median, modus, std, IQR, outlier</a:t>
            </a:r>
            <a:endParaRPr lang="en-US" sz="1400" dirty="0"/>
          </a:p>
        </p:txBody>
      </p:sp>
      <p:sp>
        <p:nvSpPr>
          <p:cNvPr id="40" name="tab-2-bg"/>
          <p:cNvSpPr/>
          <p:nvPr/>
        </p:nvSpPr>
        <p:spPr>
          <a:xfrm>
            <a:off x="5577840" y="3017520"/>
            <a:ext cx="457200" cy="457200"/>
          </a:xfrm>
          <a:prstGeom prst="ellipse">
            <a:avLst/>
          </a:prstGeom>
          <a:solidFill>
            <a:srgbClr val="64748B"/>
          </a:solidFill>
          <a:ln w="12700">
            <a:solidFill>
              <a:srgbClr val="64748B"/>
            </a:solidFill>
            <a:prstDash val="solid"/>
          </a:ln>
        </p:spPr>
      </p:sp>
      <p:pic>
        <p:nvPicPr>
          <p:cNvPr id="41" name="tab-2-icon" descr="FaChartBar">    </p:cNvPr>
          <p:cNvPicPr>
            <a:picLocks noChangeAspect="1"/>
          </p:cNvPicPr>
          <p:nvPr/>
        </p:nvPicPr>
        <p:blipFill>
          <a:blip r:embed="rId3"/>
          <a:stretch>
            <a:fillRect/>
          </a:stretch>
        </p:blipFill>
        <p:spPr>
          <a:xfrm>
            <a:off x="5692140" y="3131820"/>
            <a:ext cx="228600" cy="228600"/>
          </a:xfrm>
          <a:prstGeom prst="rect">
            <a:avLst/>
          </a:prstGeom>
        </p:spPr>
      </p:pic>
      <p:sp>
        <p:nvSpPr>
          <p:cNvPr id="42" name="tab-text-2"/>
          <p:cNvSpPr txBox="1"/>
          <p:nvPr/>
        </p:nvSpPr>
        <p:spPr>
          <a:xfrm>
            <a:off x="6172200" y="2926080"/>
            <a:ext cx="2514600" cy="777240"/>
          </a:xfrm>
          <a:prstGeom prst="rect">
            <a:avLst/>
          </a:prstGeom>
          <a:noFill/>
          <a:ln/>
        </p:spPr>
        <p:txBody>
          <a:bodyPr wrap="square" lIns="0" tIns="0" rIns="0" bIns="0" rtlCol="0" anchor="ctr"/>
          <a:lstStyle/>
          <a:p>
            <a:pPr indent="0" marL="0">
              <a:buNone/>
            </a:pPr>
            <a:r>
              <a:rPr lang="en-US" sz="1400" b="1" dirty="0">
                <a:solidFill>
                  <a:srgbClr val="14161F"/>
                </a:solidFill>
              </a:rPr>
              <a:t>Visualisasi</a:t>
            </a:r>
            <a:endParaRPr lang="en-US" sz="1400" dirty="0"/>
          </a:p>
          <a:p>
            <a:pPr indent="0" marL="0">
              <a:buNone/>
            </a:pPr>
            <a:r>
              <a:rPr lang="en-US" sz="1400" dirty="0">
                <a:solidFill>
                  <a:srgbClr val="5B6475"/>
                </a:solidFill>
              </a:rPr>
              <a:t>Histogram dan boxplot per kelompok</a:t>
            </a:r>
            <a:endParaRPr lang="en-US" sz="1400" dirty="0"/>
          </a:p>
        </p:txBody>
      </p:sp>
      <p:sp>
        <p:nvSpPr>
          <p:cNvPr id="43" name="tab-3-bg"/>
          <p:cNvSpPr/>
          <p:nvPr/>
        </p:nvSpPr>
        <p:spPr>
          <a:xfrm>
            <a:off x="5577840" y="3840480"/>
            <a:ext cx="457200" cy="457200"/>
          </a:xfrm>
          <a:prstGeom prst="ellipse">
            <a:avLst/>
          </a:prstGeom>
          <a:solidFill>
            <a:srgbClr val="F5A524"/>
          </a:solidFill>
          <a:ln w="12700">
            <a:solidFill>
              <a:srgbClr val="F5A524"/>
            </a:solidFill>
            <a:prstDash val="solid"/>
          </a:ln>
        </p:spPr>
      </p:sp>
      <p:pic>
        <p:nvPicPr>
          <p:cNvPr id="44" name="tab-3-icon" descr="FaDice">    </p:cNvPr>
          <p:cNvPicPr>
            <a:picLocks noChangeAspect="1"/>
          </p:cNvPicPr>
          <p:nvPr/>
        </p:nvPicPr>
        <p:blipFill>
          <a:blip r:embed="rId4"/>
          <a:stretch>
            <a:fillRect/>
          </a:stretch>
        </p:blipFill>
        <p:spPr>
          <a:xfrm>
            <a:off x="5692140" y="3954780"/>
            <a:ext cx="228600" cy="228600"/>
          </a:xfrm>
          <a:prstGeom prst="rect">
            <a:avLst/>
          </a:prstGeom>
        </p:spPr>
      </p:pic>
      <p:sp>
        <p:nvSpPr>
          <p:cNvPr id="45" name="tab-text-3"/>
          <p:cNvSpPr txBox="1"/>
          <p:nvPr/>
        </p:nvSpPr>
        <p:spPr>
          <a:xfrm>
            <a:off x="6172200" y="3749040"/>
            <a:ext cx="2514600" cy="777240"/>
          </a:xfrm>
          <a:prstGeom prst="rect">
            <a:avLst/>
          </a:prstGeom>
          <a:noFill/>
          <a:ln/>
        </p:spPr>
        <p:txBody>
          <a:bodyPr wrap="square" lIns="0" tIns="0" rIns="0" bIns="0" rtlCol="0" anchor="ctr"/>
          <a:lstStyle/>
          <a:p>
            <a:pPr indent="0" marL="0">
              <a:buNone/>
            </a:pPr>
            <a:r>
              <a:rPr lang="en-US" sz="1400" b="1" dirty="0">
                <a:solidFill>
                  <a:srgbClr val="14161F"/>
                </a:solidFill>
              </a:rPr>
              <a:t>Simulasi Dadu</a:t>
            </a:r>
            <a:endParaRPr lang="en-US" sz="1400" dirty="0"/>
          </a:p>
          <a:p>
            <a:pPr indent="0" marL="0">
              <a:buNone/>
            </a:pPr>
            <a:r>
              <a:rPr lang="en-US" sz="1400" dirty="0">
                <a:solidFill>
                  <a:srgbClr val="5B6475"/>
                </a:solidFill>
              </a:rPr>
              <a:t>Hukum Bilangan Besar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Dashboard yang Jujur</a:t>
            </a:r>
            <a:endParaRPr lang="en-US" sz="3400" dirty="0"/>
          </a:p>
        </p:txBody>
      </p:sp>
      <p:pic>
        <p:nvPicPr>
          <p:cNvPr id="3" name="rule-icon-0" descr="Centang">    </p:cNvPr>
          <p:cNvPicPr>
            <a:picLocks noChangeAspect="1"/>
          </p:cNvPicPr>
          <p:nvPr/>
        </p:nvPicPr>
        <p:blipFill>
          <a:blip r:embed="rId1"/>
          <a:stretch>
            <a:fillRect/>
          </a:stretch>
        </p:blipFill>
        <p:spPr>
          <a:xfrm>
            <a:off x="457200" y="1435608"/>
            <a:ext cx="365760" cy="365760"/>
          </a:xfrm>
          <a:prstGeom prst="rect">
            <a:avLst/>
          </a:prstGeom>
        </p:spPr>
      </p:pic>
      <p:sp>
        <p:nvSpPr>
          <p:cNvPr id="4" name="Text 1"/>
          <p:cNvSpPr txBox="1"/>
          <p:nvPr/>
        </p:nvSpPr>
        <p:spPr>
          <a:xfrm>
            <a:off x="1005840" y="1325880"/>
            <a:ext cx="3291840" cy="594360"/>
          </a:xfrm>
          <a:prstGeom prst="rect">
            <a:avLst/>
          </a:prstGeom>
          <a:noFill/>
          <a:ln/>
        </p:spPr>
        <p:txBody>
          <a:bodyPr wrap="square" lIns="0" tIns="0" rIns="0" bIns="0" rtlCol="0" anchor="ctr"/>
          <a:lstStyle/>
          <a:p>
            <a:pPr indent="0" marL="0">
              <a:buNone/>
            </a:pPr>
            <a:r>
              <a:rPr lang="en-US" sz="1600" dirty="0">
                <a:solidFill>
                  <a:schemeClr val="tx1"/>
                </a:solidFill>
              </a:rPr>
              <a:t>Kenali audiens dan kebutuhannya</a:t>
            </a:r>
            <a:endParaRPr lang="en-US" sz="1600" dirty="0"/>
          </a:p>
        </p:txBody>
      </p:sp>
      <p:pic>
        <p:nvPicPr>
          <p:cNvPr id="5" name="rule-icon-1" descr="Centang">    </p:cNvPr>
          <p:cNvPicPr>
            <a:picLocks noChangeAspect="1"/>
          </p:cNvPicPr>
          <p:nvPr/>
        </p:nvPicPr>
        <p:blipFill>
          <a:blip r:embed="rId2"/>
          <a:stretch>
            <a:fillRect/>
          </a:stretch>
        </p:blipFill>
        <p:spPr>
          <a:xfrm>
            <a:off x="457200" y="2212848"/>
            <a:ext cx="365760" cy="365760"/>
          </a:xfrm>
          <a:prstGeom prst="rect">
            <a:avLst/>
          </a:prstGeom>
        </p:spPr>
      </p:pic>
      <p:sp>
        <p:nvSpPr>
          <p:cNvPr id="6" name="Text 2"/>
          <p:cNvSpPr txBox="1"/>
          <p:nvPr/>
        </p:nvSpPr>
        <p:spPr>
          <a:xfrm>
            <a:off x="1005840" y="2103120"/>
            <a:ext cx="3291840" cy="594360"/>
          </a:xfrm>
          <a:prstGeom prst="rect">
            <a:avLst/>
          </a:prstGeom>
          <a:noFill/>
          <a:ln/>
        </p:spPr>
        <p:txBody>
          <a:bodyPr wrap="square" lIns="0" tIns="0" rIns="0" bIns="0" rtlCol="0" anchor="ctr"/>
          <a:lstStyle/>
          <a:p>
            <a:pPr indent="0" marL="0">
              <a:buNone/>
            </a:pPr>
            <a:r>
              <a:rPr lang="en-US" sz="1600" dirty="0">
                <a:solidFill>
                  <a:schemeClr val="tx1"/>
                </a:solidFill>
              </a:rPr>
              <a:t>Batasi komponen: 2 sampai 3 visual</a:t>
            </a:r>
            <a:endParaRPr lang="en-US" sz="1600" dirty="0"/>
          </a:p>
        </p:txBody>
      </p:sp>
      <p:pic>
        <p:nvPicPr>
          <p:cNvPr id="7" name="rule-icon-2" descr="Centang">    </p:cNvPr>
          <p:cNvPicPr>
            <a:picLocks noChangeAspect="1"/>
          </p:cNvPicPr>
          <p:nvPr/>
        </p:nvPicPr>
        <p:blipFill>
          <a:blip r:embed="rId3"/>
          <a:stretch>
            <a:fillRect/>
          </a:stretch>
        </p:blipFill>
        <p:spPr>
          <a:xfrm>
            <a:off x="457200" y="2990088"/>
            <a:ext cx="365760" cy="365760"/>
          </a:xfrm>
          <a:prstGeom prst="rect">
            <a:avLst/>
          </a:prstGeom>
        </p:spPr>
      </p:pic>
      <p:sp>
        <p:nvSpPr>
          <p:cNvPr id="8" name="Text 3"/>
          <p:cNvSpPr txBox="1"/>
          <p:nvPr/>
        </p:nvSpPr>
        <p:spPr>
          <a:xfrm>
            <a:off x="1005840" y="2880360"/>
            <a:ext cx="3291840" cy="594360"/>
          </a:xfrm>
          <a:prstGeom prst="rect">
            <a:avLst/>
          </a:prstGeom>
          <a:noFill/>
          <a:ln/>
        </p:spPr>
        <p:txBody>
          <a:bodyPr wrap="square" lIns="0" tIns="0" rIns="0" bIns="0" rtlCol="0" anchor="ctr"/>
          <a:lstStyle/>
          <a:p>
            <a:pPr indent="0" marL="0">
              <a:buNone/>
            </a:pPr>
            <a:r>
              <a:rPr lang="en-US" sz="1600" dirty="0">
                <a:solidFill>
                  <a:schemeClr val="tx1"/>
                </a:solidFill>
              </a:rPr>
              <a:t>Muat cepat dengan @st.cache_data</a:t>
            </a:r>
            <a:endParaRPr lang="en-US" sz="1600" dirty="0"/>
          </a:p>
        </p:txBody>
      </p:sp>
      <p:pic>
        <p:nvPicPr>
          <p:cNvPr id="9" name="rule-icon-3" descr="Centang">    </p:cNvPr>
          <p:cNvPicPr>
            <a:picLocks noChangeAspect="1"/>
          </p:cNvPicPr>
          <p:nvPr/>
        </p:nvPicPr>
        <p:blipFill>
          <a:blip r:embed="rId4"/>
          <a:stretch>
            <a:fillRect/>
          </a:stretch>
        </p:blipFill>
        <p:spPr>
          <a:xfrm>
            <a:off x="457200" y="3767328"/>
            <a:ext cx="365760" cy="365760"/>
          </a:xfrm>
          <a:prstGeom prst="rect">
            <a:avLst/>
          </a:prstGeom>
        </p:spPr>
      </p:pic>
      <p:sp>
        <p:nvSpPr>
          <p:cNvPr id="10" name="Text 4"/>
          <p:cNvSpPr txBox="1"/>
          <p:nvPr/>
        </p:nvSpPr>
        <p:spPr>
          <a:xfrm>
            <a:off x="1005840" y="3657600"/>
            <a:ext cx="3291840" cy="594360"/>
          </a:xfrm>
          <a:prstGeom prst="rect">
            <a:avLst/>
          </a:prstGeom>
          <a:noFill/>
          <a:ln/>
        </p:spPr>
        <p:txBody>
          <a:bodyPr wrap="square" lIns="0" tIns="0" rIns="0" bIns="0" rtlCol="0" anchor="ctr"/>
          <a:lstStyle/>
          <a:p>
            <a:pPr indent="0" marL="0">
              <a:buNone/>
            </a:pPr>
            <a:r>
              <a:rPr lang="en-US" sz="1600" b="1" dirty="0">
                <a:solidFill>
                  <a:schemeClr val="tx1"/>
                </a:solidFill>
              </a:rPr>
              <a:t>Sumbu jujur: mulai dari nol</a:t>
            </a:r>
            <a:endParaRPr lang="en-US" sz="1600" dirty="0"/>
          </a:p>
        </p:txBody>
      </p:sp>
      <p:graphicFrame>
        <p:nvGraphicFramePr>
          <p:cNvPr id="11" name="Chart 0" descr=""/>
          <p:cNvGraphicFramePr/>
          <p:nvPr/>
        </p:nvGraphicFramePr>
        <p:xfrm>
          <a:off x="4526280" y="1371600"/>
          <a:ext cx="2148840" cy="2651760"/>
        </p:xfrm>
        <a:graphic xmlns:a="http://schemas.openxmlformats.org/drawingml/2006/main">
          <a:graphicData uri="http://schemas.openxmlformats.org/drawingml/2006/chart">
            <c:chart xmlns:c="http://schemas.openxmlformats.org/drawingml/2006/chart" r:id="rId5"/>
          </a:graphicData>
        </a:graphic>
      </p:graphicFrame>
      <p:graphicFrame>
        <p:nvGraphicFramePr>
          <p:cNvPr id="12" name="Chart 1" descr=""/>
          <p:cNvGraphicFramePr/>
          <p:nvPr/>
        </p:nvGraphicFramePr>
        <p:xfrm>
          <a:off x="6675120" y="1371600"/>
          <a:ext cx="2148840" cy="2651760"/>
        </p:xfrm>
        <a:graphic xmlns:a="http://schemas.openxmlformats.org/drawingml/2006/main">
          <a:graphicData uri="http://schemas.openxmlformats.org/drawingml/2006/chart">
            <c:chart xmlns:c="http://schemas.openxmlformats.org/drawingml/2006/chart" r:id="rId6"/>
          </a:graphicData>
        </a:graphic>
      </p:graphicFrame>
      <p:sp>
        <p:nvSpPr>
          <p:cNvPr id="13" name="Text 5"/>
          <p:cNvSpPr txBox="1"/>
          <p:nvPr/>
        </p:nvSpPr>
        <p:spPr>
          <a:xfrm>
            <a:off x="4526280" y="4114800"/>
            <a:ext cx="4297680" cy="457200"/>
          </a:xfrm>
          <a:prstGeom prst="rect">
            <a:avLst/>
          </a:prstGeom>
          <a:noFill/>
          <a:ln/>
        </p:spPr>
        <p:txBody>
          <a:bodyPr wrap="square" lIns="0" tIns="0" rIns="0" bIns="0" rtlCol="0" anchor="t"/>
          <a:lstStyle/>
          <a:p>
            <a:pPr indent="0" marL="0">
              <a:buNone/>
            </a:pPr>
            <a:r>
              <a:rPr lang="en-US" sz="1200" dirty="0">
                <a:solidFill>
                  <a:srgbClr val="5B6475"/>
                </a:solidFill>
              </a:rPr>
              <a:t>Data sama (rata-rata UTS per kelas), kesan berbeda. Kelas A tampak jauh unggul pada grafik kanan.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Teaser: Simulasi Dadu</a:t>
            </a:r>
            <a:endParaRPr lang="en-US" sz="3400" dirty="0"/>
          </a:p>
        </p:txBody>
      </p:sp>
      <p:sp>
        <p:nvSpPr>
          <p:cNvPr id="3" name="Text 1"/>
          <p:cNvSpPr txBox="1"/>
          <p:nvPr/>
        </p:nvSpPr>
        <p:spPr>
          <a:xfrm>
            <a:off x="457200" y="1234440"/>
            <a:ext cx="2926080" cy="1097280"/>
          </a:xfrm>
          <a:prstGeom prst="rect">
            <a:avLst/>
          </a:prstGeom>
          <a:noFill/>
          <a:ln/>
        </p:spPr>
        <p:txBody>
          <a:bodyPr wrap="square" lIns="0" tIns="0" rIns="0" bIns="0" rtlCol="0" anchor="t"/>
          <a:lstStyle/>
          <a:p>
            <a:pPr indent="0" marL="0">
              <a:buNone/>
            </a:pPr>
            <a:r>
              <a:rPr lang="en-US" sz="6600" b="1" dirty="0">
                <a:solidFill>
                  <a:srgbClr val="E5393B"/>
                </a:solidFill>
                <a:latin typeface="Cambria" pitchFamily="34" charset="0"/>
                <a:ea typeface="Cambria" pitchFamily="34" charset="-122"/>
                <a:cs typeface="Cambria" pitchFamily="34" charset="-120"/>
              </a:rPr>
              <a:t>1/6</a:t>
            </a:r>
            <a:endParaRPr lang="en-US" sz="6600" dirty="0"/>
          </a:p>
        </p:txBody>
      </p:sp>
      <p:sp>
        <p:nvSpPr>
          <p:cNvPr id="4" name="Text 2"/>
          <p:cNvSpPr txBox="1"/>
          <p:nvPr/>
        </p:nvSpPr>
        <p:spPr>
          <a:xfrm>
            <a:off x="457200" y="2377440"/>
            <a:ext cx="2926080" cy="365760"/>
          </a:xfrm>
          <a:prstGeom prst="rect">
            <a:avLst/>
          </a:prstGeom>
          <a:noFill/>
          <a:ln/>
        </p:spPr>
        <p:txBody>
          <a:bodyPr wrap="square" lIns="0" tIns="0" rIns="0" bIns="0" rtlCol="0" anchor="t"/>
          <a:lstStyle/>
          <a:p>
            <a:pPr indent="0" marL="0">
              <a:buNone/>
            </a:pPr>
            <a:r>
              <a:rPr lang="en-US" sz="1600" b="1" dirty="0">
                <a:solidFill>
                  <a:schemeClr val="tx1"/>
                </a:solidFill>
              </a:rPr>
              <a:t>peluang teori tiap sisi dadu</a:t>
            </a:r>
            <a:endParaRPr lang="en-US" sz="1600" dirty="0"/>
          </a:p>
        </p:txBody>
      </p:sp>
      <p:sp>
        <p:nvSpPr>
          <p:cNvPr id="5" name="Text 3"/>
          <p:cNvSpPr txBox="1"/>
          <p:nvPr/>
        </p:nvSpPr>
        <p:spPr>
          <a:xfrm>
            <a:off x="457200" y="2880360"/>
            <a:ext cx="2926080" cy="1280160"/>
          </a:xfrm>
          <a:prstGeom prst="rect">
            <a:avLst/>
          </a:prstGeom>
          <a:noFill/>
          <a:ln/>
        </p:spPr>
        <p:txBody>
          <a:bodyPr wrap="square" lIns="0" tIns="0" rIns="0" bIns="0" rtlCol="0" anchor="t"/>
          <a:lstStyle/>
          <a:p>
            <a:pPr indent="0" marL="0">
              <a:buNone/>
            </a:pPr>
            <a:r>
              <a:rPr lang="en-US" sz="1400" dirty="0">
                <a:solidFill>
                  <a:srgbClr val="5B6475"/>
                </a:solidFill>
              </a:rPr>
              <a:t>Makin banyak lemparan, proporsi hasil makin dekat ke peluang teori. Inilah Hukum Bilangan Besar.</a:t>
            </a:r>
            <a:endParaRPr lang="en-US" sz="1400" dirty="0"/>
          </a:p>
        </p:txBody>
      </p:sp>
      <p:graphicFrame>
        <p:nvGraphicFramePr>
          <p:cNvPr id="6" name="Chart 0" descr=""/>
          <p:cNvGraphicFramePr/>
          <p:nvPr/>
        </p:nvGraphicFramePr>
        <p:xfrm>
          <a:off x="3749040" y="128016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749040" y="4160520"/>
            <a:ext cx="4937760" cy="411480"/>
          </a:xfrm>
          <a:prstGeom prst="rect">
            <a:avLst/>
          </a:prstGeom>
          <a:noFill/>
          <a:ln/>
        </p:spPr>
        <p:txBody>
          <a:bodyPr wrap="square" lIns="0" tIns="0" rIns="0" bIns="0" rtlCol="0" anchor="t"/>
          <a:lstStyle/>
          <a:p>
            <a:pPr indent="0" marL="0">
              <a:buNone/>
            </a:pPr>
            <a:r>
              <a:rPr lang="en-US" sz="1200" dirty="0">
                <a:solidFill>
                  <a:srgbClr val="5B6475"/>
                </a:solidFill>
              </a:rPr>
              <a:t>Contoh satu kali simulasi (np.random.randint). Di tab Simulasi Dadu, mahasiswa mencobanya sendiri.</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Kuis Latihan</a:t>
            </a:r>
            <a:endParaRPr lang="en-US" sz="3400" dirty="0"/>
          </a:p>
        </p:txBody>
      </p:sp>
      <p:sp>
        <p:nvSpPr>
          <p:cNvPr id="3" name="quiz-card-0"/>
          <p:cNvSpPr/>
          <p:nvPr/>
        </p:nvSpPr>
        <p:spPr>
          <a:xfrm>
            <a:off x="457200" y="1280160"/>
            <a:ext cx="4023360" cy="2423160"/>
          </a:xfrm>
          <a:prstGeom prst="roundRect">
            <a:avLst>
              <a:gd name="adj" fmla="val 4528"/>
            </a:avLst>
          </a:prstGeom>
          <a:solidFill>
            <a:srgbClr val="F3F4F6"/>
          </a:solidFill>
          <a:ln w="12700">
            <a:solidFill>
              <a:srgbClr val="F3F4F6"/>
            </a:solidFill>
            <a:prstDash val="solid"/>
          </a:ln>
        </p:spPr>
      </p:sp>
      <p:sp>
        <p:nvSpPr>
          <p:cNvPr id="4" name="quiz-0-bg"/>
          <p:cNvSpPr/>
          <p:nvPr/>
        </p:nvSpPr>
        <p:spPr>
          <a:xfrm>
            <a:off x="685800" y="1463040"/>
            <a:ext cx="548640" cy="548640"/>
          </a:xfrm>
          <a:prstGeom prst="ellipse">
            <a:avLst/>
          </a:prstGeom>
          <a:solidFill>
            <a:srgbClr val="E5393B"/>
          </a:solidFill>
          <a:ln w="12700">
            <a:solidFill>
              <a:srgbClr val="E5393B"/>
            </a:solidFill>
            <a:prstDash val="solid"/>
          </a:ln>
        </p:spPr>
      </p:sp>
      <p:pic>
        <p:nvPicPr>
          <p:cNvPr id="5" name="quiz-0-icon" descr="FaCalculator">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1417320" y="146304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Kuis 1: Kalkulator Statistik Mini</a:t>
            </a:r>
            <a:endParaRPr lang="en-US" sz="1600" dirty="0"/>
          </a:p>
        </p:txBody>
      </p:sp>
      <p:sp>
        <p:nvSpPr>
          <p:cNvPr id="7" name="quiz-bullets-0"/>
          <p:cNvSpPr txBox="1"/>
          <p:nvPr/>
        </p:nvSpPr>
        <p:spPr>
          <a:xfrm>
            <a:off x="731520" y="2194560"/>
            <a:ext cx="347472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Input angka dipisah koma</a:t>
            </a:r>
            <a:endParaRPr lang="en-US" sz="1600" dirty="0"/>
          </a:p>
          <a:p>
            <a:pPr marL="342900" indent="-342900">
              <a:spcAft>
                <a:spcPts val="600"/>
              </a:spcAft>
              <a:buSzPct val="100000"/>
              <a:buChar char="•"/>
            </a:pPr>
            <a:r>
              <a:rPr lang="en-US" sz="1600" dirty="0">
                <a:solidFill>
                  <a:schemeClr val="tx1"/>
                </a:solidFill>
              </a:rPr>
              <a:t>Tombol Hitung dan validasi input</a:t>
            </a:r>
            <a:endParaRPr lang="en-US" sz="1600" dirty="0"/>
          </a:p>
          <a:p>
            <a:pPr marL="342900" indent="-342900">
              <a:spcAft>
                <a:spcPts val="600"/>
              </a:spcAft>
              <a:buSzPct val="100000"/>
              <a:buChar char="•"/>
            </a:pPr>
            <a:r>
              <a:rPr lang="en-US" sz="1600" dirty="0">
                <a:solidFill>
                  <a:schemeClr val="tx1"/>
                </a:solidFill>
              </a:rPr>
              <a:t>Mean, median, std, min, max</a:t>
            </a:r>
            <a:endParaRPr lang="en-US" sz="1600" dirty="0"/>
          </a:p>
        </p:txBody>
      </p:sp>
      <p:sp>
        <p:nvSpPr>
          <p:cNvPr id="8" name="quiz-card-1"/>
          <p:cNvSpPr/>
          <p:nvPr/>
        </p:nvSpPr>
        <p:spPr>
          <a:xfrm>
            <a:off x="4663440" y="1280160"/>
            <a:ext cx="4023360" cy="2423160"/>
          </a:xfrm>
          <a:prstGeom prst="roundRect">
            <a:avLst>
              <a:gd name="adj" fmla="val 4528"/>
            </a:avLst>
          </a:prstGeom>
          <a:solidFill>
            <a:srgbClr val="F3F4F6"/>
          </a:solidFill>
          <a:ln w="12700">
            <a:solidFill>
              <a:srgbClr val="F3F4F6"/>
            </a:solidFill>
            <a:prstDash val="solid"/>
          </a:ln>
        </p:spPr>
      </p:sp>
      <p:sp>
        <p:nvSpPr>
          <p:cNvPr id="9" name="quiz-1-bg"/>
          <p:cNvSpPr/>
          <p:nvPr/>
        </p:nvSpPr>
        <p:spPr>
          <a:xfrm>
            <a:off x="4892040" y="1463040"/>
            <a:ext cx="548640" cy="548640"/>
          </a:xfrm>
          <a:prstGeom prst="ellipse">
            <a:avLst/>
          </a:prstGeom>
          <a:solidFill>
            <a:srgbClr val="0B7F7A"/>
          </a:solidFill>
          <a:ln w="12700">
            <a:solidFill>
              <a:srgbClr val="0B7F7A"/>
            </a:solidFill>
            <a:prstDash val="solid"/>
          </a:ln>
        </p:spPr>
      </p:sp>
      <p:pic>
        <p:nvPicPr>
          <p:cNvPr id="10" name="quiz-1-icon" descr="FaCoffee">    </p:cNvPr>
          <p:cNvPicPr>
            <a:picLocks noChangeAspect="1"/>
          </p:cNvPicPr>
          <p:nvPr/>
        </p:nvPicPr>
        <p:blipFill>
          <a:blip r:embed="rId2"/>
          <a:stretch>
            <a:fillRect/>
          </a:stretch>
        </p:blipFill>
        <p:spPr>
          <a:xfrm>
            <a:off x="5029200" y="1600200"/>
            <a:ext cx="274320" cy="274320"/>
          </a:xfrm>
          <a:prstGeom prst="rect">
            <a:avLst/>
          </a:prstGeom>
        </p:spPr>
      </p:pic>
      <p:sp>
        <p:nvSpPr>
          <p:cNvPr id="11" name="Text 7"/>
          <p:cNvSpPr txBox="1"/>
          <p:nvPr/>
        </p:nvSpPr>
        <p:spPr>
          <a:xfrm>
            <a:off x="5623560" y="146304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Kuis 2: Dashboard Penjualan Kafe</a:t>
            </a:r>
            <a:endParaRPr lang="en-US" sz="1600" dirty="0"/>
          </a:p>
        </p:txBody>
      </p:sp>
      <p:sp>
        <p:nvSpPr>
          <p:cNvPr id="12" name="quiz-bullets-1"/>
          <p:cNvSpPr txBox="1"/>
          <p:nvPr/>
        </p:nvSpPr>
        <p:spPr>
          <a:xfrm>
            <a:off x="4937760" y="2194560"/>
            <a:ext cx="347472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Filter menu di sidebar</a:t>
            </a:r>
            <a:endParaRPr lang="en-US" sz="1600" dirty="0"/>
          </a:p>
          <a:p>
            <a:pPr marL="342900" indent="-342900">
              <a:spcAft>
                <a:spcPts val="600"/>
              </a:spcAft>
              <a:buSzPct val="100000"/>
              <a:buChar char="•"/>
            </a:pPr>
            <a:r>
              <a:rPr lang="en-US" sz="1600" dirty="0">
                <a:solidFill>
                  <a:schemeClr val="tx1"/>
                </a:solidFill>
              </a:rPr>
              <a:t>Metrik, grafik garis, dan boxplot</a:t>
            </a:r>
            <a:endParaRPr lang="en-US" sz="1600" dirty="0"/>
          </a:p>
          <a:p>
            <a:pPr marL="342900" indent="-342900">
              <a:spcAft>
                <a:spcPts val="600"/>
              </a:spcAft>
              <a:buSzPct val="100000"/>
              <a:buChar char="•"/>
            </a:pPr>
            <a:r>
              <a:rPr lang="en-US" sz="1600" dirty="0">
                <a:solidFill>
                  <a:schemeClr val="tx1"/>
                </a:solidFill>
              </a:rPr>
              <a:t>Deteksi outlier per menu</a:t>
            </a:r>
            <a:endParaRPr lang="en-US" sz="1600" dirty="0"/>
          </a:p>
        </p:txBody>
      </p:sp>
      <p:sp>
        <p:nvSpPr>
          <p:cNvPr id="13" name="submit-bg"/>
          <p:cNvSpPr/>
          <p:nvPr/>
        </p:nvSpPr>
        <p:spPr>
          <a:xfrm>
            <a:off x="457200" y="3977640"/>
            <a:ext cx="411480" cy="411480"/>
          </a:xfrm>
          <a:prstGeom prst="ellipse">
            <a:avLst/>
          </a:prstGeom>
          <a:solidFill>
            <a:srgbClr val="0B7F7A"/>
          </a:solidFill>
          <a:ln w="12700">
            <a:solidFill>
              <a:srgbClr val="0B7F7A"/>
            </a:solidFill>
            <a:prstDash val="solid"/>
          </a:ln>
        </p:spPr>
      </p:sp>
      <p:pic>
        <p:nvPicPr>
          <p:cNvPr id="14" name="submit-icon" descr="FaCheckCircle">    </p:cNvPr>
          <p:cNvPicPr>
            <a:picLocks noChangeAspect="1"/>
          </p:cNvPicPr>
          <p:nvPr/>
        </p:nvPicPr>
        <p:blipFill>
          <a:blip r:embed="rId3"/>
          <a:stretch>
            <a:fillRect/>
          </a:stretch>
        </p:blipFill>
        <p:spPr>
          <a:xfrm>
            <a:off x="560070" y="4080510"/>
            <a:ext cx="205740" cy="205740"/>
          </a:xfrm>
          <a:prstGeom prst="rect">
            <a:avLst/>
          </a:prstGeom>
        </p:spPr>
      </p:pic>
      <p:sp>
        <p:nvSpPr>
          <p:cNvPr id="15" name="Text 10"/>
          <p:cNvSpPr txBox="1"/>
          <p:nvPr/>
        </p:nvSpPr>
        <p:spPr>
          <a:xfrm>
            <a:off x="1005840" y="3977640"/>
            <a:ext cx="7315200" cy="411480"/>
          </a:xfrm>
          <a:prstGeom prst="rect">
            <a:avLst/>
          </a:prstGeom>
          <a:noFill/>
          <a:ln/>
        </p:spPr>
        <p:txBody>
          <a:bodyPr wrap="square" lIns="0" tIns="0" rIns="0" bIns="0" rtlCol="0" anchor="ctr"/>
          <a:lstStyle/>
          <a:p>
            <a:pPr indent="0" marL="0">
              <a:buNone/>
            </a:pPr>
            <a:r>
              <a:rPr lang="en-US" sz="1600" b="1" dirty="0">
                <a:solidFill>
                  <a:schemeClr val="tx1"/>
                </a:solidFill>
              </a:rPr>
              <a:t>Kumpulkan: file .py dan screenshot tampilan aplikasi</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400" b="1" dirty="0">
                <a:solidFill>
                  <a:srgbClr val="FFFFFF"/>
                </a:solidFill>
              </a:rPr>
              <a:t>Persiapan dan Pertemuan 5</a:t>
            </a:r>
            <a:endParaRPr lang="en-US" sz="3400" dirty="0"/>
          </a:p>
        </p:txBody>
      </p:sp>
      <p:sp>
        <p:nvSpPr>
          <p:cNvPr id="3" name="Text 1"/>
          <p:cNvSpPr txBox="1"/>
          <p:nvPr/>
        </p:nvSpPr>
        <p:spPr>
          <a:xfrm>
            <a:off x="548640" y="1371600"/>
            <a:ext cx="4023360" cy="365760"/>
          </a:xfrm>
          <a:prstGeom prst="rect">
            <a:avLst/>
          </a:prstGeom>
          <a:noFill/>
          <a:ln/>
        </p:spPr>
        <p:txBody>
          <a:bodyPr wrap="square" lIns="0" tIns="0" rIns="0" bIns="0" rtlCol="0" anchor="t"/>
          <a:lstStyle/>
          <a:p>
            <a:pPr indent="0" marL="0">
              <a:buNone/>
            </a:pPr>
            <a:r>
              <a:rPr lang="en-US" sz="2000" b="1" dirty="0">
                <a:solidFill>
                  <a:srgbClr val="FFFFFF"/>
                </a:solidFill>
              </a:rPr>
              <a:t>Sebelum kelas</a:t>
            </a:r>
            <a:endParaRPr lang="en-US" sz="2000" dirty="0"/>
          </a:p>
        </p:txBody>
      </p:sp>
      <p:pic>
        <p:nvPicPr>
          <p:cNvPr id="4" name="prep-icon-0" descr="Centang">    </p:cNvPr>
          <p:cNvPicPr>
            <a:picLocks noChangeAspect="1"/>
          </p:cNvPicPr>
          <p:nvPr/>
        </p:nvPicPr>
        <p:blipFill>
          <a:blip r:embed="rId1"/>
          <a:stretch>
            <a:fillRect/>
          </a:stretch>
        </p:blipFill>
        <p:spPr>
          <a:xfrm>
            <a:off x="548640" y="1965960"/>
            <a:ext cx="320040" cy="320040"/>
          </a:xfrm>
          <a:prstGeom prst="rect">
            <a:avLst/>
          </a:prstGeom>
        </p:spPr>
      </p:pic>
      <p:sp>
        <p:nvSpPr>
          <p:cNvPr id="5" name="Text 2"/>
          <p:cNvSpPr txBox="1"/>
          <p:nvPr/>
        </p:nvSpPr>
        <p:spPr>
          <a:xfrm>
            <a:off x="1051560" y="1920240"/>
            <a:ext cx="3566160" cy="411480"/>
          </a:xfrm>
          <a:prstGeom prst="rect">
            <a:avLst/>
          </a:prstGeom>
          <a:noFill/>
          <a:ln/>
        </p:spPr>
        <p:txBody>
          <a:bodyPr wrap="square" lIns="0" tIns="0" rIns="0" bIns="0" rtlCol="0" anchor="ctr"/>
          <a:lstStyle/>
          <a:p>
            <a:pPr indent="0" marL="0">
              <a:buNone/>
            </a:pPr>
            <a:r>
              <a:rPr lang="en-US" sz="1600" dirty="0">
                <a:solidFill>
                  <a:srgbClr val="FFFFFF"/>
                </a:solidFill>
              </a:rPr>
              <a:t>Python 3.9 atau lebih baru</a:t>
            </a:r>
            <a:endParaRPr lang="en-US" sz="1600" dirty="0"/>
          </a:p>
        </p:txBody>
      </p:sp>
      <p:pic>
        <p:nvPicPr>
          <p:cNvPr id="6" name="prep-icon-1" descr="Centang">    </p:cNvPr>
          <p:cNvPicPr>
            <a:picLocks noChangeAspect="1"/>
          </p:cNvPicPr>
          <p:nvPr/>
        </p:nvPicPr>
        <p:blipFill>
          <a:blip r:embed="rId2"/>
          <a:stretch>
            <a:fillRect/>
          </a:stretch>
        </p:blipFill>
        <p:spPr>
          <a:xfrm>
            <a:off x="548640" y="2606040"/>
            <a:ext cx="320040" cy="320040"/>
          </a:xfrm>
          <a:prstGeom prst="rect">
            <a:avLst/>
          </a:prstGeom>
        </p:spPr>
      </p:pic>
      <p:sp>
        <p:nvSpPr>
          <p:cNvPr id="7" name="Text 3"/>
          <p:cNvSpPr txBox="1"/>
          <p:nvPr/>
        </p:nvSpPr>
        <p:spPr>
          <a:xfrm>
            <a:off x="1051560" y="2560320"/>
            <a:ext cx="3566160" cy="411480"/>
          </a:xfrm>
          <a:prstGeom prst="rect">
            <a:avLst/>
          </a:prstGeom>
          <a:noFill/>
          <a:ln/>
        </p:spPr>
        <p:txBody>
          <a:bodyPr wrap="square" lIns="0" tIns="0" rIns="0" bIns="0" rtlCol="0" anchor="ctr"/>
          <a:lstStyle/>
          <a:p>
            <a:pPr indent="0" marL="0">
              <a:buNone/>
            </a:pPr>
            <a:r>
              <a:rPr lang="en-US" sz="1600" dirty="0">
                <a:solidFill>
                  <a:srgbClr val="FFFFFF"/>
                </a:solidFill>
              </a:rPr>
              <a:t>Install Streamlit dan library</a:t>
            </a:r>
            <a:endParaRPr lang="en-US" sz="1600" dirty="0"/>
          </a:p>
        </p:txBody>
      </p:sp>
      <p:pic>
        <p:nvPicPr>
          <p:cNvPr id="8" name="prep-icon-2" descr="Centang">    </p:cNvPr>
          <p:cNvPicPr>
            <a:picLocks noChangeAspect="1"/>
          </p:cNvPicPr>
          <p:nvPr/>
        </p:nvPicPr>
        <p:blipFill>
          <a:blip r:embed="rId3"/>
          <a:stretch>
            <a:fillRect/>
          </a:stretch>
        </p:blipFill>
        <p:spPr>
          <a:xfrm>
            <a:off x="548640" y="3246120"/>
            <a:ext cx="320040" cy="320040"/>
          </a:xfrm>
          <a:prstGeom prst="rect">
            <a:avLst/>
          </a:prstGeom>
        </p:spPr>
      </p:pic>
      <p:sp>
        <p:nvSpPr>
          <p:cNvPr id="9" name="Text 4"/>
          <p:cNvSpPr txBox="1"/>
          <p:nvPr/>
        </p:nvSpPr>
        <p:spPr>
          <a:xfrm>
            <a:off x="1051560" y="3200400"/>
            <a:ext cx="3566160" cy="411480"/>
          </a:xfrm>
          <a:prstGeom prst="rect">
            <a:avLst/>
          </a:prstGeom>
          <a:noFill/>
          <a:ln/>
        </p:spPr>
        <p:txBody>
          <a:bodyPr wrap="square" lIns="0" tIns="0" rIns="0" bIns="0" rtlCol="0" anchor="ctr"/>
          <a:lstStyle/>
          <a:p>
            <a:pPr indent="0" marL="0">
              <a:buNone/>
            </a:pPr>
            <a:r>
              <a:rPr lang="en-US" sz="1600" dirty="0">
                <a:solidFill>
                  <a:srgbClr val="FFFFFF"/>
                </a:solidFill>
              </a:rPr>
              <a:t>Editor kode, misal VS Code</a:t>
            </a:r>
            <a:endParaRPr lang="en-US" sz="1600" dirty="0"/>
          </a:p>
        </p:txBody>
      </p:sp>
      <p:pic>
        <p:nvPicPr>
          <p:cNvPr id="10" name="prep-icon-3" descr="Centang">    </p:cNvPr>
          <p:cNvPicPr>
            <a:picLocks noChangeAspect="1"/>
          </p:cNvPicPr>
          <p:nvPr/>
        </p:nvPicPr>
        <p:blipFill>
          <a:blip r:embed="rId4"/>
          <a:stretch>
            <a:fillRect/>
          </a:stretch>
        </p:blipFill>
        <p:spPr>
          <a:xfrm>
            <a:off x="548640" y="3886200"/>
            <a:ext cx="320040" cy="320040"/>
          </a:xfrm>
          <a:prstGeom prst="rect">
            <a:avLst/>
          </a:prstGeom>
        </p:spPr>
      </p:pic>
      <p:sp>
        <p:nvSpPr>
          <p:cNvPr id="11" name="Text 5"/>
          <p:cNvSpPr txBox="1"/>
          <p:nvPr/>
        </p:nvSpPr>
        <p:spPr>
          <a:xfrm>
            <a:off x="1051560" y="3840480"/>
            <a:ext cx="3566160" cy="411480"/>
          </a:xfrm>
          <a:prstGeom prst="rect">
            <a:avLst/>
          </a:prstGeom>
          <a:noFill/>
          <a:ln/>
        </p:spPr>
        <p:txBody>
          <a:bodyPr wrap="square" lIns="0" tIns="0" rIns="0" bIns="0" rtlCol="0" anchor="ctr"/>
          <a:lstStyle/>
          <a:p>
            <a:pPr indent="0" marL="0">
              <a:buNone/>
            </a:pPr>
            <a:r>
              <a:rPr lang="en-US" sz="1600" dirty="0">
                <a:solidFill>
                  <a:srgbClr val="FFFFFF"/>
                </a:solidFill>
              </a:rPr>
              <a:t>Folder pert4 dan data siap</a:t>
            </a:r>
            <a:endParaRPr lang="en-US" sz="1600" dirty="0"/>
          </a:p>
        </p:txBody>
      </p:sp>
      <p:sp>
        <p:nvSpPr>
          <p:cNvPr id="12" name="next-card"/>
          <p:cNvSpPr/>
          <p:nvPr/>
        </p:nvSpPr>
        <p:spPr>
          <a:xfrm>
            <a:off x="4937760" y="1371600"/>
            <a:ext cx="3749040" cy="2926080"/>
          </a:xfrm>
          <a:prstGeom prst="roundRect">
            <a:avLst>
              <a:gd name="adj" fmla="val 3750"/>
            </a:avLst>
          </a:prstGeom>
          <a:solidFill>
            <a:srgbClr val="2A3042"/>
          </a:solidFill>
          <a:ln w="12700">
            <a:solidFill>
              <a:srgbClr val="2A3042"/>
            </a:solidFill>
            <a:prstDash val="solid"/>
          </a:ln>
        </p:spPr>
      </p:sp>
      <p:sp>
        <p:nvSpPr>
          <p:cNvPr id="13" name="next-bg"/>
          <p:cNvSpPr/>
          <p:nvPr/>
        </p:nvSpPr>
        <p:spPr>
          <a:xfrm>
            <a:off x="5212080" y="1600200"/>
            <a:ext cx="594360" cy="594360"/>
          </a:xfrm>
          <a:prstGeom prst="ellipse">
            <a:avLst/>
          </a:prstGeom>
          <a:solidFill>
            <a:srgbClr val="F5A524"/>
          </a:solidFill>
          <a:ln w="12700">
            <a:solidFill>
              <a:srgbClr val="F5A524"/>
            </a:solidFill>
            <a:prstDash val="solid"/>
          </a:ln>
        </p:spPr>
      </p:sp>
      <p:pic>
        <p:nvPicPr>
          <p:cNvPr id="14" name="next-icon" descr="FaDice">    </p:cNvPr>
          <p:cNvPicPr>
            <a:picLocks noChangeAspect="1"/>
          </p:cNvPicPr>
          <p:nvPr/>
        </p:nvPicPr>
        <p:blipFill>
          <a:blip r:embed="rId5"/>
          <a:stretch>
            <a:fillRect/>
          </a:stretch>
        </p:blipFill>
        <p:spPr>
          <a:xfrm>
            <a:off x="5360670" y="1748790"/>
            <a:ext cx="297180" cy="297180"/>
          </a:xfrm>
          <a:prstGeom prst="rect">
            <a:avLst/>
          </a:prstGeom>
        </p:spPr>
      </p:pic>
      <p:sp>
        <p:nvSpPr>
          <p:cNvPr id="15" name="Text 8"/>
          <p:cNvSpPr txBox="1"/>
          <p:nvPr/>
        </p:nvSpPr>
        <p:spPr>
          <a:xfrm>
            <a:off x="5212080" y="2377440"/>
            <a:ext cx="3200400" cy="274320"/>
          </a:xfrm>
          <a:prstGeom prst="rect">
            <a:avLst/>
          </a:prstGeom>
          <a:noFill/>
          <a:ln/>
        </p:spPr>
        <p:txBody>
          <a:bodyPr wrap="square" lIns="0" tIns="0" rIns="0" bIns="0" rtlCol="0" anchor="t"/>
          <a:lstStyle/>
          <a:p>
            <a:pPr indent="0" marL="0">
              <a:buNone/>
            </a:pPr>
            <a:r>
              <a:rPr lang="en-US" sz="1200" b="1" spc="200" kern="0" dirty="0">
                <a:solidFill>
                  <a:srgbClr val="FF6B6B"/>
                </a:solidFill>
              </a:rPr>
              <a:t>PERTEMUAN 5</a:t>
            </a:r>
            <a:endParaRPr lang="en-US" sz="1200" dirty="0"/>
          </a:p>
        </p:txBody>
      </p:sp>
      <p:sp>
        <p:nvSpPr>
          <p:cNvPr id="16" name="Text 9"/>
          <p:cNvSpPr txBox="1"/>
          <p:nvPr/>
        </p:nvSpPr>
        <p:spPr>
          <a:xfrm>
            <a:off x="5212080" y="2697480"/>
            <a:ext cx="3200400" cy="457200"/>
          </a:xfrm>
          <a:prstGeom prst="rect">
            <a:avLst/>
          </a:prstGeom>
          <a:noFill/>
          <a:ln/>
        </p:spPr>
        <p:txBody>
          <a:bodyPr wrap="square" lIns="0" tIns="0" rIns="0" bIns="0" rtlCol="0" anchor="t"/>
          <a:lstStyle/>
          <a:p>
            <a:pPr indent="0" marL="0">
              <a:buNone/>
            </a:pPr>
            <a:r>
              <a:rPr lang="en-US" sz="2400" b="1" dirty="0">
                <a:solidFill>
                  <a:srgbClr val="FFFFFF"/>
                </a:solidFill>
              </a:rPr>
              <a:t>Dasar Probabilitas</a:t>
            </a:r>
            <a:endParaRPr lang="en-US" sz="2400" dirty="0"/>
          </a:p>
        </p:txBody>
      </p:sp>
      <p:sp>
        <p:nvSpPr>
          <p:cNvPr id="17" name="next-bullets"/>
          <p:cNvSpPr txBox="1"/>
          <p:nvPr/>
        </p:nvSpPr>
        <p:spPr>
          <a:xfrm>
            <a:off x="5212080" y="3246120"/>
            <a:ext cx="3200400" cy="914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5E7EB"/>
                </a:solidFill>
              </a:rPr>
              <a:t>Ruang sampel dan kejadian</a:t>
            </a:r>
            <a:endParaRPr lang="en-US" sz="1400" dirty="0"/>
          </a:p>
          <a:p>
            <a:pPr marL="342900" indent="-342900">
              <a:spcAft>
                <a:spcPts val="400"/>
              </a:spcAft>
              <a:buSzPct val="100000"/>
              <a:buChar char="•"/>
            </a:pPr>
            <a:r>
              <a:rPr lang="en-US" sz="1400" dirty="0">
                <a:solidFill>
                  <a:srgbClr val="E5E7EB"/>
                </a:solidFill>
              </a:rPr>
              <a:t>Aturan peluang</a:t>
            </a:r>
            <a:endParaRPr lang="en-US" sz="1400" dirty="0"/>
          </a:p>
          <a:p>
            <a:pPr marL="342900" indent="-342900">
              <a:spcAft>
                <a:spcPts val="400"/>
              </a:spcAft>
              <a:buSzPct val="100000"/>
              <a:buChar char="•"/>
            </a:pPr>
            <a:r>
              <a:rPr lang="en-US" sz="1400" dirty="0">
                <a:solidFill>
                  <a:srgbClr val="E5E7EB"/>
                </a:solidFill>
              </a:rPr>
              <a:t>Simulasi di Python</a:t>
            </a:r>
            <a:endParaRPr lang="en-US" sz="1400" dirty="0"/>
          </a:p>
        </p:txBody>
      </p:sp>
    </p:spTree>
  </p:cSld>
  <p:clrMapOvr>
    <a:masterClrMapping/>
  </p:clrMapOvr>
</p:sld>
</file>

<file path=ppt/theme/theme1.xml><?xml version="1.0" encoding="utf-8"?>
<a:theme xmlns:a="http://schemas.openxmlformats.org/drawingml/2006/main" name="StatPro Dashboard">
  <a:themeElements>
    <a:clrScheme name="StatPro Dashboard">
      <a:dk1>
        <a:srgbClr val="14161F"/>
      </a:dk1>
      <a:lt1>
        <a:srgbClr val="FFFFFF"/>
      </a:lt1>
      <a:dk2>
        <a:srgbClr val="2A3042"/>
      </a:dk2>
      <a:lt2>
        <a:srgbClr val="F3F4F6"/>
      </a:lt2>
      <a:accent1>
        <a:srgbClr val="E5393B"/>
      </a:accent1>
      <a:accent2>
        <a:srgbClr val="0B7F7A"/>
      </a:accent2>
      <a:accent3>
        <a:srgbClr val="F5A524"/>
      </a:accent3>
      <a:accent4>
        <a:srgbClr val="64748B"/>
      </a:accent4>
      <a:accent5>
        <a:srgbClr val="3B82F6"/>
      </a:accent5>
      <a:accent6>
        <a:srgbClr val="10B981"/>
      </a:accent6>
      <a:hlink>
        <a:srgbClr val="0B7F7A"/>
      </a:hlink>
      <a:folHlink>
        <a:srgbClr val="64748B"/>
      </a:folHlink>
    </a:clrScheme>
    <a:fontScheme name="StatPro Dashbo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4 - Dashboard Statistik Deskriptif dengan Streamlit</dc:title>
  <dc:subject>PptxGenJS Presentation</dc:subject>
  <dc:creator>Farhan dan Samuel</dc:creator>
  <cp:lastModifiedBy>Farhan dan Samuel</cp:lastModifiedBy>
  <cp:revision>1</cp:revision>
  <dcterms:created xsi:type="dcterms:W3CDTF">2026-10-29T02:01:22Z</dcterms:created>
  <dcterms:modified xsi:type="dcterms:W3CDTF">2026-10-29T02:01:22Z</dcterms:modified>
</cp:coreProperties>
</file>